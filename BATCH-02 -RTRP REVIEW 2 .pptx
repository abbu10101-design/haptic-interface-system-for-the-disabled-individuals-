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1" r:id="rId2"/>
    <p:sldId id="264" r:id="rId3"/>
    <p:sldId id="291" r:id="rId4"/>
    <p:sldId id="292" r:id="rId5"/>
    <p:sldId id="260" r:id="rId6"/>
    <p:sldId id="293" r:id="rId7"/>
    <p:sldId id="284" r:id="rId8"/>
    <p:sldId id="285" r:id="rId9"/>
    <p:sldId id="286" r:id="rId10"/>
    <p:sldId id="258" r:id="rId11"/>
    <p:sldId id="290" r:id="rId12"/>
    <p:sldId id="295" r:id="rId13"/>
    <p:sldId id="296" r:id="rId14"/>
    <p:sldId id="297" r:id="rId15"/>
    <p:sldId id="298" r:id="rId16"/>
    <p:sldId id="304" r:id="rId17"/>
    <p:sldId id="299" r:id="rId18"/>
    <p:sldId id="303" r:id="rId19"/>
    <p:sldId id="300" r:id="rId20"/>
    <p:sldId id="301" r:id="rId21"/>
    <p:sldId id="29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082E6B-D2DC-4D29-B271-1025E3DB0E81}" v="3" dt="2026-03-27T11:41:53.08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gala Abhi Charan" userId="95ffd2da83309bdd" providerId="LiveId" clId="{B4DCEF90-A9EA-4F5D-9032-3B7B91817A93}"/>
    <pc:docChg chg="addSld modSld">
      <pc:chgData name="Degala Abhi Charan" userId="95ffd2da83309bdd" providerId="LiveId" clId="{B4DCEF90-A9EA-4F5D-9032-3B7B91817A93}" dt="2026-03-27T11:42:03.774" v="28" actId="1076"/>
      <pc:docMkLst>
        <pc:docMk/>
      </pc:docMkLst>
      <pc:sldChg chg="addSp modSp new mod">
        <pc:chgData name="Degala Abhi Charan" userId="95ffd2da83309bdd" providerId="LiveId" clId="{B4DCEF90-A9EA-4F5D-9032-3B7B91817A93}" dt="2026-03-27T11:42:03.774" v="28" actId="1076"/>
        <pc:sldMkLst>
          <pc:docMk/>
          <pc:sldMk cId="2210325627" sldId="304"/>
        </pc:sldMkLst>
        <pc:spChg chg="add mod">
          <ac:chgData name="Degala Abhi Charan" userId="95ffd2da83309bdd" providerId="LiveId" clId="{B4DCEF90-A9EA-4F5D-9032-3B7B91817A93}" dt="2026-03-27T11:40:54.685" v="19" actId="1076"/>
          <ac:spMkLst>
            <pc:docMk/>
            <pc:sldMk cId="2210325627" sldId="304"/>
            <ac:spMk id="2" creationId="{9460BFCA-AAF9-1BD6-DE52-D62B43613420}"/>
          </ac:spMkLst>
        </pc:spChg>
        <pc:picChg chg="add mod">
          <ac:chgData name="Degala Abhi Charan" userId="95ffd2da83309bdd" providerId="LiveId" clId="{B4DCEF90-A9EA-4F5D-9032-3B7B91817A93}" dt="2026-03-27T11:41:44.611" v="23" actId="1076"/>
          <ac:picMkLst>
            <pc:docMk/>
            <pc:sldMk cId="2210325627" sldId="304"/>
            <ac:picMk id="3" creationId="{347B0E77-B570-F046-B885-D117B555185C}"/>
          </ac:picMkLst>
        </pc:picChg>
        <pc:picChg chg="add mod">
          <ac:chgData name="Degala Abhi Charan" userId="95ffd2da83309bdd" providerId="LiveId" clId="{B4DCEF90-A9EA-4F5D-9032-3B7B91817A93}" dt="2026-03-27T11:42:03.774" v="28" actId="1076"/>
          <ac:picMkLst>
            <pc:docMk/>
            <pc:sldMk cId="2210325627" sldId="304"/>
            <ac:picMk id="4" creationId="{7ED319B0-F026-4D3D-EE77-4CD56E2B9F54}"/>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7T10:18:51.689"/>
    </inkml:context>
    <inkml:brush xml:id="br0">
      <inkml:brushProperty name="width" value="0.35" units="cm"/>
      <inkml:brushProperty name="height" value="0.35" units="cm"/>
      <inkml:brushProperty name="color" value="#FFFFFF"/>
    </inkml:brush>
  </inkml:definitions>
  <inkml:trace contextRef="#ctx0" brushRef="#br0">678 550 24575,'-168'2'0,"-178"-5"0,330 2 0,0 0 0,1-1 0,-1-1 0,1 0 0,-26-10 0,38 12 0,0 0 0,0-1 0,0 1 0,0-1 0,1 0 0,-1 0 0,0 0 0,1 0 0,-1-1 0,1 1 0,0-1 0,0 1 0,-4-6 0,5 5 0,1 1 0,-1-1 0,0 1 0,1-1 0,-1 0 0,1 1 0,0-1 0,0 1 0,0-1 0,0 0 0,1 1 0,-1-1 0,0 1 0,1-1 0,0 1 0,0-1 0,0 1 0,0-1 0,0 1 0,2-4 0,6-7 0,-1 1 0,1-1 0,1 2 0,0-1 0,1 1 0,14-11 0,-2 4 0,0 1 0,36-20 0,-22 20 0,0 2 0,1 1 0,52-11 0,-53 15 0,-12 3 0,-5 2 0,0-1 0,0 0 0,0-2 0,22-12 0,-5 1 0,2 2 0,0 2 0,1 1 0,0 2 0,81-13 0,-90 22 0,37 0 0,-42 3 0,0-1 0,40-7 0,-22 0 0,1 2 0,0 3 0,0 1 0,69 5 0,-110-2 0,0-1 0,1 0 0,-1 1 0,0 0 0,0 0 0,0 0 0,0 0 0,0 1 0,-1-1 0,1 1 0,0 0 0,-1 0 0,1 1 0,-1-1 0,0 1 0,0-1 0,0 1 0,4 5 0,-4-3 0,-1-1 0,1 1 0,-1 0 0,0 0 0,-1 0 0,1 1 0,-1-1 0,0 0 0,-1 1 0,1-1 0,-1 0 0,0 1 0,-1 8 0,1-9 0,0 1 0,-1-1 0,1 1 0,-1-1 0,0 1 0,-1-1 0,1 0 0,-1 1 0,0-1 0,-1 0 0,1 0 0,-1 0 0,0-1 0,0 1 0,-1-1 0,1 1 0,-1-1 0,0 0 0,0 0 0,0-1 0,-1 1 0,1-1 0,-1 0 0,0 0 0,1-1 0,-2 1 0,1-1 0,-8 2 0,-13 4 0,0-1 0,-1-1 0,0-2 0,0-1 0,-51 0 0,49-2 0,1 2 0,-32 6 0,28-4 0,-43 3 0,39-7 0,-194-3 0,221 1 0,0 0 0,-1-1 0,1 0 0,0 0 0,0-1 0,1 0 0,-14-7 0,19 8 0,-1 0 0,1 0 0,-1 0 0,1-1 0,0 0 0,0 1 0,0-1 0,0 0 0,1-1 0,-1 1 0,1 0 0,0-1 0,0 1 0,0-1 0,0 0 0,1 1 0,-1-1 0,-1-8 0,0-10 0,1-1 0,2-44 0,0 67 0,0-1 0,0 1 0,0-1 0,0 1 0,-1 0 0,1-1 0,0 1 0,0 0 0,0-1 0,-1 1 0,1 0 0,0 0 0,-1-1 0,1 1 0,0 0 0,0 0 0,-1-1 0,1 1 0,-1 0 0,1 0 0,0 0 0,-1 0 0,1-1 0,0 1 0,-1 0 0,1 0 0,-1 0 0,1 0 0,0 0 0,-1 0 0,1 0 0,0 0 0,-1 0 0,1 0 0,-1 0 0,1 0 0,-1 1 0,-26 2 0,-4 1 0,29-5-68,1 1 0,0 0-1,0-1 1,-1 1 0,1-1 0,0 1-1,0-1 1,0 0 0,-1 1 0,1-1-1,0 0 1,0 0 0,0 0 0,0 0-1,1 0 1,-1 0 0,0 0-1,0 0 1,-1-2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rduino-esp8266.readthedocs.io/" TargetMode="External"/><Relationship Id="rId2" Type="http://schemas.openxmlformats.org/officeDocument/2006/relationships/hyperlink" Target="https://www.arduino.cc/referenc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abbu10101-design/HAPTIC-INTERFACE-SYSTEM-FOR-THE-DISABLED-INDIVIDUALS-"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MR Group Of Institutions (@cmrinstitutions) • Instagram ...">
            <a:extLst>
              <a:ext uri="{FF2B5EF4-FFF2-40B4-BE49-F238E27FC236}">
                <a16:creationId xmlns:a16="http://schemas.microsoft.com/office/drawing/2014/main" id="{ADAFFC89-53A1-0278-0D74-20B9E94BC7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2510" y="158619"/>
            <a:ext cx="2812646" cy="20426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2387CDE-E20D-A2AA-B88F-CF901B8F6F58}"/>
              </a:ext>
            </a:extLst>
          </p:cNvPr>
          <p:cNvSpPr txBox="1"/>
          <p:nvPr/>
        </p:nvSpPr>
        <p:spPr>
          <a:xfrm>
            <a:off x="1583871" y="1737834"/>
            <a:ext cx="7420169" cy="2123658"/>
          </a:xfrm>
          <a:prstGeom prst="rect">
            <a:avLst/>
          </a:prstGeom>
          <a:noFill/>
        </p:spPr>
        <p:txBody>
          <a:bodyPr wrap="square">
            <a:spAutoFit/>
          </a:bodyPr>
          <a:lstStyle/>
          <a:p>
            <a:r>
              <a:rPr lang="en-US" sz="4400" b="1"/>
              <a:t>THE HAPTIC INTERFACE SYSTEM FOR THE DISABLED INDIVIDUALS</a:t>
            </a:r>
            <a:endParaRPr lang="en-IN" sz="4400" b="1"/>
          </a:p>
        </p:txBody>
      </p:sp>
      <p:sp>
        <p:nvSpPr>
          <p:cNvPr id="8" name="TextBox 7">
            <a:extLst>
              <a:ext uri="{FF2B5EF4-FFF2-40B4-BE49-F238E27FC236}">
                <a16:creationId xmlns:a16="http://schemas.microsoft.com/office/drawing/2014/main" id="{89F2AD0F-9D10-C8C9-2006-51682375EBC5}"/>
              </a:ext>
            </a:extLst>
          </p:cNvPr>
          <p:cNvSpPr txBox="1"/>
          <p:nvPr/>
        </p:nvSpPr>
        <p:spPr>
          <a:xfrm>
            <a:off x="5987921" y="4581557"/>
            <a:ext cx="6097554" cy="936154"/>
          </a:xfrm>
          <a:prstGeom prst="rect">
            <a:avLst/>
          </a:prstGeom>
          <a:noFill/>
        </p:spPr>
        <p:txBody>
          <a:bodyPr wrap="square">
            <a:spAutoFit/>
          </a:bodyPr>
          <a:lstStyle/>
          <a:p>
            <a:pPr marL="472440">
              <a:spcBef>
                <a:spcPts val="30"/>
              </a:spcBef>
              <a:buNone/>
              <a:tabLst>
                <a:tab pos="1789430" algn="l"/>
              </a:tabLst>
            </a:pPr>
            <a:r>
              <a:rPr lang="en-US" sz="1800">
                <a:effectLst/>
                <a:latin typeface="Times New Roman" panose="02020603050405020304" pitchFamily="18" charset="0"/>
                <a:ea typeface="Times New Roman" panose="02020603050405020304" pitchFamily="18" charset="0"/>
              </a:rPr>
              <a:t>D.RAMU	                </a:t>
            </a:r>
            <a:r>
              <a:rPr lang="en-US" sz="1800" spc="-10">
                <a:effectLst/>
                <a:latin typeface="Times New Roman" panose="02020603050405020304" pitchFamily="18" charset="0"/>
                <a:ea typeface="Times New Roman" panose="02020603050405020304" pitchFamily="18" charset="0"/>
              </a:rPr>
              <a:t>247R1A0579</a:t>
            </a:r>
            <a:endParaRPr lang="en-IN" sz="1800">
              <a:effectLst/>
              <a:latin typeface="Times New Roman" panose="02020603050405020304" pitchFamily="18" charset="0"/>
              <a:ea typeface="Times New Roman" panose="02020603050405020304" pitchFamily="18" charset="0"/>
            </a:endParaRPr>
          </a:p>
          <a:p>
            <a:pPr marL="472440">
              <a:spcBef>
                <a:spcPts val="55"/>
              </a:spcBef>
              <a:buNone/>
              <a:tabLst>
                <a:tab pos="1789430" algn="l"/>
              </a:tabLst>
            </a:pPr>
            <a:r>
              <a:rPr lang="en-US" sz="1800">
                <a:effectLst/>
                <a:latin typeface="Times New Roman" panose="02020603050405020304" pitchFamily="18" charset="0"/>
                <a:ea typeface="Times New Roman" panose="02020603050405020304" pitchFamily="18" charset="0"/>
              </a:rPr>
              <a:t>MD ABB</a:t>
            </a:r>
            <a:r>
              <a:rPr lang="en-US">
                <a:latin typeface="Times New Roman" panose="02020603050405020304" pitchFamily="18" charset="0"/>
                <a:ea typeface="Times New Roman" panose="02020603050405020304" pitchFamily="18" charset="0"/>
              </a:rPr>
              <a:t>UBAKAR</a:t>
            </a:r>
            <a:r>
              <a:rPr lang="en-US" sz="1800">
                <a:effectLst/>
                <a:latin typeface="Times New Roman" panose="02020603050405020304" pitchFamily="18" charset="0"/>
                <a:ea typeface="Times New Roman" panose="02020603050405020304" pitchFamily="18" charset="0"/>
              </a:rPr>
              <a:t>	</a:t>
            </a:r>
            <a:r>
              <a:rPr lang="en-US" sz="1800" spc="-10">
                <a:effectLst/>
                <a:latin typeface="Times New Roman" panose="02020603050405020304" pitchFamily="18" charset="0"/>
                <a:ea typeface="Times New Roman" panose="02020603050405020304" pitchFamily="18" charset="0"/>
              </a:rPr>
              <a:t>247R1A05A6</a:t>
            </a:r>
            <a:endParaRPr lang="en-IN" sz="1800">
              <a:effectLst/>
              <a:latin typeface="Times New Roman" panose="02020603050405020304" pitchFamily="18" charset="0"/>
              <a:ea typeface="Times New Roman" panose="02020603050405020304" pitchFamily="18" charset="0"/>
            </a:endParaRPr>
          </a:p>
          <a:p>
            <a:pPr>
              <a:spcBef>
                <a:spcPts val="30"/>
              </a:spcBef>
              <a:buNone/>
              <a:tabLst>
                <a:tab pos="1789430" algn="l"/>
              </a:tabLst>
            </a:pPr>
            <a:r>
              <a:rPr lang="en-US" sz="1800">
                <a:effectLst/>
                <a:latin typeface="Times New Roman" panose="02020603050405020304" pitchFamily="18" charset="0"/>
                <a:ea typeface="Times New Roman" panose="02020603050405020304" pitchFamily="18" charset="0"/>
              </a:rPr>
              <a:t>        G.SURYAPRAKASH	</a:t>
            </a:r>
            <a:r>
              <a:rPr lang="en-US" sz="1800" spc="-10">
                <a:effectLst/>
                <a:latin typeface="Times New Roman" panose="02020603050405020304" pitchFamily="18" charset="0"/>
                <a:ea typeface="Times New Roman" panose="02020603050405020304" pitchFamily="18" charset="0"/>
              </a:rPr>
              <a:t>247R1A0585</a:t>
            </a:r>
            <a:endParaRPr lang="en-IN" sz="1800">
              <a:effectLst/>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29B2E43B-3E95-F8F4-7E8E-E9DAE461C311}"/>
              </a:ext>
            </a:extLst>
          </p:cNvPr>
          <p:cNvSpPr txBox="1"/>
          <p:nvPr/>
        </p:nvSpPr>
        <p:spPr>
          <a:xfrm>
            <a:off x="1492898" y="4702629"/>
            <a:ext cx="2417970" cy="646331"/>
          </a:xfrm>
          <a:prstGeom prst="rect">
            <a:avLst/>
          </a:prstGeom>
          <a:noFill/>
        </p:spPr>
        <p:txBody>
          <a:bodyPr wrap="none" rtlCol="0">
            <a:spAutoFit/>
          </a:bodyPr>
          <a:lstStyle/>
          <a:p>
            <a:r>
              <a:rPr lang="en-IN" u="sng"/>
              <a:t>GUIDE</a:t>
            </a:r>
            <a:r>
              <a:rPr lang="en-IN"/>
              <a:t>:G.SWATHI  MAM</a:t>
            </a:r>
          </a:p>
          <a:p>
            <a:r>
              <a:rPr lang="en-IN"/>
              <a:t>            </a:t>
            </a:r>
          </a:p>
        </p:txBody>
      </p:sp>
    </p:spTree>
    <p:extLst>
      <p:ext uri="{BB962C8B-B14F-4D97-AF65-F5344CB8AC3E}">
        <p14:creationId xmlns:p14="http://schemas.microsoft.com/office/powerpoint/2010/main" val="3666316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u="sng">
                <a:latin typeface="Times New Roman" panose="02020603050405020304" pitchFamily="18" charset="0"/>
                <a:cs typeface="Times New Roman" panose="02020603050405020304" pitchFamily="18" charset="0"/>
                <a:sym typeface="+mn-ea"/>
              </a:rPr>
              <a:t>Introduction</a:t>
            </a:r>
            <a:r>
              <a:rPr lang="en-US" altLang="en-US" b="1" u="sng">
                <a:latin typeface="Times New Roman" panose="02020603050405020304" pitchFamily="18" charset="0"/>
                <a:cs typeface="Times New Roman" panose="02020603050405020304" pitchFamily="18" charset="0"/>
                <a:sym typeface="+mn-ea"/>
              </a:rPr>
              <a:t> </a:t>
            </a:r>
            <a:endParaRPr lang="en-US" b="1" u="sng">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64226"/>
            <a:ext cx="10515600" cy="4351338"/>
          </a:xfrm>
        </p:spPr>
        <p:txBody>
          <a:bodyPr>
            <a:normAutofit/>
          </a:bodyPr>
          <a:lstStyle/>
          <a:p>
            <a:r>
              <a:rPr lang="en-US" altLang="en-US" sz="2600">
                <a:latin typeface="Times New Roman" panose="02020603050405020304" pitchFamily="18" charset="0"/>
                <a:cs typeface="Times New Roman" panose="02020603050405020304" pitchFamily="18" charset="0"/>
              </a:rPr>
              <a:t>Haptic interface systems enable communication through touch-based feedback.</a:t>
            </a:r>
          </a:p>
          <a:p>
            <a:r>
              <a:rPr lang="en-US" altLang="en-US" sz="2600">
                <a:latin typeface="Times New Roman" panose="02020603050405020304" pitchFamily="18" charset="0"/>
                <a:cs typeface="Times New Roman" panose="02020603050405020304" pitchFamily="18" charset="0"/>
              </a:rPr>
              <a:t>These systems help visually impaired, hearing impaired, and physically disabled individuals interact with digital environments.</a:t>
            </a:r>
          </a:p>
          <a:p>
            <a:r>
              <a:rPr lang="en-US" altLang="en-US" sz="2600">
                <a:latin typeface="Times New Roman" panose="02020603050405020304" pitchFamily="18" charset="0"/>
                <a:cs typeface="Times New Roman" panose="02020603050405020304" pitchFamily="18" charset="0"/>
              </a:rPr>
              <a:t>The proposed system uses sensors, actuators, and microcontrollers to generate tactile signals.</a:t>
            </a:r>
          </a:p>
          <a:p>
            <a:r>
              <a:rPr lang="en-US" altLang="en-US" sz="2600">
                <a:latin typeface="Times New Roman" panose="02020603050405020304" pitchFamily="18" charset="0"/>
                <a:cs typeface="Times New Roman" panose="02020603050405020304" pitchFamily="18" charset="0"/>
              </a:rPr>
              <a:t>The aim is to improve accessibility, independence, and human–computer interaction.</a:t>
            </a:r>
          </a:p>
          <a:p>
            <a:r>
              <a:rPr lang="en-US" altLang="en-US" sz="2600">
                <a:latin typeface="Times New Roman" panose="02020603050405020304" pitchFamily="18" charset="0"/>
                <a:cs typeface="Times New Roman" panose="02020603050405020304" pitchFamily="18" charset="0"/>
              </a:rPr>
              <a:t>Applications include navigation assistance, communication devices, and learning tools.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29AA3C-6905-9FBC-3615-1D623ADCEE02}"/>
              </a:ext>
            </a:extLst>
          </p:cNvPr>
          <p:cNvSpPr txBox="1"/>
          <p:nvPr/>
        </p:nvSpPr>
        <p:spPr>
          <a:xfrm>
            <a:off x="709604" y="823203"/>
            <a:ext cx="9566210" cy="4862870"/>
          </a:xfrm>
          <a:prstGeom prst="rect">
            <a:avLst/>
          </a:prstGeom>
          <a:noFill/>
        </p:spPr>
        <p:txBody>
          <a:bodyPr wrap="square">
            <a:spAutoFit/>
          </a:bodyPr>
          <a:lstStyle/>
          <a:p>
            <a:pPr>
              <a:buNone/>
            </a:pPr>
            <a:r>
              <a:rPr lang="en-US" sz="4000" u="sng" dirty="0"/>
              <a:t>Existing Systems</a:t>
            </a:r>
          </a:p>
          <a:p>
            <a:pPr>
              <a:buNone/>
            </a:pPr>
            <a:endParaRPr lang="en-US" sz="3600" u="sng" dirty="0"/>
          </a:p>
          <a:p>
            <a:pPr>
              <a:buFont typeface="+mj-lt"/>
              <a:buAutoNum type="arabicPeriod"/>
            </a:pPr>
            <a:r>
              <a:rPr lang="en-US" sz="2600" b="1" dirty="0">
                <a:latin typeface="Times New Roman" panose="02020603050405020304" pitchFamily="18" charset="0"/>
                <a:cs typeface="Times New Roman" panose="02020603050405020304" pitchFamily="18" charset="0"/>
              </a:rPr>
              <a:t>White Cane:</a:t>
            </a:r>
            <a:r>
              <a:rPr lang="en-US" sz="2600" dirty="0">
                <a:latin typeface="Times New Roman" panose="02020603050405020304" pitchFamily="18" charset="0"/>
                <a:cs typeface="Times New Roman" panose="02020603050405020304" pitchFamily="18" charset="0"/>
              </a:rPr>
              <a:t> A traditional mobility aid used by visually impaired individuals to detect obstacles through physical contact with the ground.</a:t>
            </a:r>
          </a:p>
          <a:p>
            <a:pPr>
              <a:buFont typeface="+mj-lt"/>
              <a:buAutoNum type="arabicPeriod"/>
            </a:pPr>
            <a:r>
              <a:rPr lang="en-US" sz="2600" b="1" dirty="0">
                <a:latin typeface="Times New Roman" panose="02020603050405020304" pitchFamily="18" charset="0"/>
                <a:cs typeface="Times New Roman" panose="02020603050405020304" pitchFamily="18" charset="0"/>
              </a:rPr>
              <a:t>Guide Dogs:</a:t>
            </a:r>
            <a:r>
              <a:rPr lang="en-US" sz="2600" dirty="0">
                <a:latin typeface="Times New Roman" panose="02020603050405020304" pitchFamily="18" charset="0"/>
                <a:cs typeface="Times New Roman" panose="02020603050405020304" pitchFamily="18" charset="0"/>
              </a:rPr>
              <a:t> Specially trained dogs that assist visually impaired people in navigating obstacles and moving safely.</a:t>
            </a:r>
          </a:p>
          <a:p>
            <a:pPr>
              <a:buFont typeface="+mj-lt"/>
              <a:buAutoNum type="arabicPeriod"/>
            </a:pPr>
            <a:r>
              <a:rPr lang="en-US" sz="2600" b="1" dirty="0">
                <a:latin typeface="Times New Roman" panose="02020603050405020304" pitchFamily="18" charset="0"/>
                <a:cs typeface="Times New Roman" panose="02020603050405020304" pitchFamily="18" charset="0"/>
              </a:rPr>
              <a:t>Electronic Obstacle Detection Devices:</a:t>
            </a:r>
            <a:r>
              <a:rPr lang="en-US" sz="2600" dirty="0">
                <a:latin typeface="Times New Roman" panose="02020603050405020304" pitchFamily="18" charset="0"/>
                <a:cs typeface="Times New Roman" panose="02020603050405020304" pitchFamily="18" charset="0"/>
              </a:rPr>
              <a:t> Some devices use sensors to detect obstacles and provide alerts through sound or vibration.</a:t>
            </a:r>
          </a:p>
          <a:p>
            <a:pPr>
              <a:buFont typeface="+mj-lt"/>
              <a:buAutoNum type="arabicPeriod"/>
            </a:pPr>
            <a:r>
              <a:rPr lang="en-US" sz="2600" b="1" dirty="0">
                <a:latin typeface="Times New Roman" panose="02020603050405020304" pitchFamily="18" charset="0"/>
                <a:cs typeface="Times New Roman" panose="02020603050405020304" pitchFamily="18" charset="0"/>
              </a:rPr>
              <a:t>Audio-Based Navigation Systems:</a:t>
            </a:r>
            <a:r>
              <a:rPr lang="en-US" sz="2600" dirty="0">
                <a:latin typeface="Times New Roman" panose="02020603050405020304" pitchFamily="18" charset="0"/>
                <a:cs typeface="Times New Roman" panose="02020603050405020304" pitchFamily="18" charset="0"/>
              </a:rPr>
              <a:t> Certain assistive technologies use voice or audio signals to guide users during movement.</a:t>
            </a:r>
          </a:p>
        </p:txBody>
      </p:sp>
    </p:spTree>
    <p:extLst>
      <p:ext uri="{BB962C8B-B14F-4D97-AF65-F5344CB8AC3E}">
        <p14:creationId xmlns:p14="http://schemas.microsoft.com/office/powerpoint/2010/main" val="1682323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87AC7F-FA61-A5D9-394A-11917D440503}"/>
              </a:ext>
            </a:extLst>
          </p:cNvPr>
          <p:cNvSpPr txBox="1"/>
          <p:nvPr/>
        </p:nvSpPr>
        <p:spPr>
          <a:xfrm>
            <a:off x="514361" y="1366805"/>
            <a:ext cx="10863166" cy="4647426"/>
          </a:xfrm>
          <a:prstGeom prst="rect">
            <a:avLst/>
          </a:prstGeom>
          <a:noFill/>
        </p:spPr>
        <p:txBody>
          <a:bodyPr wrap="square">
            <a:spAutoFit/>
          </a:bodyPr>
          <a:lstStyle/>
          <a:p>
            <a:pPr>
              <a:buNone/>
            </a:pPr>
            <a:r>
              <a:rPr lang="en-US" sz="3600" u="sng" dirty="0">
                <a:latin typeface="Times New Roman" panose="02020603050405020304" pitchFamily="18" charset="0"/>
                <a:cs typeface="Times New Roman" panose="02020603050405020304" pitchFamily="18" charset="0"/>
              </a:rPr>
              <a:t>Disadvantages of Existing Systems</a:t>
            </a:r>
          </a:p>
          <a:p>
            <a:pPr>
              <a:buNone/>
            </a:pPr>
            <a:endParaRPr lang="en-US" sz="2600" b="1" u="sng" dirty="0">
              <a:latin typeface="Times New Roman" panose="02020603050405020304" pitchFamily="18" charset="0"/>
              <a:cs typeface="Times New Roman" panose="02020603050405020304" pitchFamily="18" charset="0"/>
            </a:endParaRPr>
          </a:p>
          <a:p>
            <a:pPr>
              <a:buFont typeface="+mj-lt"/>
              <a:buAutoNum type="arabicPeriod"/>
            </a:pPr>
            <a:r>
              <a:rPr lang="en-US" sz="2600" dirty="0">
                <a:latin typeface="Times New Roman" panose="02020603050405020304" pitchFamily="18" charset="0"/>
                <a:cs typeface="Times New Roman" panose="02020603050405020304" pitchFamily="18" charset="0"/>
              </a:rPr>
              <a:t>Limited Obstacle Detection</a:t>
            </a:r>
          </a:p>
          <a:p>
            <a:pPr>
              <a:buFont typeface="+mj-lt"/>
              <a:buAutoNum type="arabicPeriod"/>
            </a:pPr>
            <a:endParaRPr lang="en-US" sz="2600" dirty="0">
              <a:latin typeface="Times New Roman" panose="02020603050405020304" pitchFamily="18" charset="0"/>
              <a:cs typeface="Times New Roman" panose="02020603050405020304" pitchFamily="18" charset="0"/>
            </a:endParaRPr>
          </a:p>
          <a:p>
            <a:pPr>
              <a:buFont typeface="+mj-lt"/>
              <a:buAutoNum type="arabicPeriod"/>
            </a:pPr>
            <a:r>
              <a:rPr lang="en-US" sz="2600" dirty="0">
                <a:latin typeface="Times New Roman" panose="02020603050405020304" pitchFamily="18" charset="0"/>
                <a:cs typeface="Times New Roman" panose="02020603050405020304" pitchFamily="18" charset="0"/>
              </a:rPr>
              <a:t>Dependence on Audio Alerts</a:t>
            </a:r>
          </a:p>
          <a:p>
            <a:pPr>
              <a:buFont typeface="+mj-lt"/>
              <a:buAutoNum type="arabicPeriod"/>
            </a:pPr>
            <a:endParaRPr lang="en-US" sz="2600" dirty="0">
              <a:latin typeface="Times New Roman" panose="02020603050405020304" pitchFamily="18" charset="0"/>
              <a:cs typeface="Times New Roman" panose="02020603050405020304" pitchFamily="18" charset="0"/>
            </a:endParaRPr>
          </a:p>
          <a:p>
            <a:pPr>
              <a:buFont typeface="+mj-lt"/>
              <a:buAutoNum type="arabicPeriod"/>
            </a:pPr>
            <a:r>
              <a:rPr lang="en-US" sz="2600" dirty="0">
                <a:latin typeface="Times New Roman" panose="02020603050405020304" pitchFamily="18" charset="0"/>
                <a:cs typeface="Times New Roman" panose="02020603050405020304" pitchFamily="18" charset="0"/>
              </a:rPr>
              <a:t>High Cost and Maintenance</a:t>
            </a:r>
          </a:p>
          <a:p>
            <a:pPr>
              <a:buFont typeface="+mj-lt"/>
              <a:buAutoNum type="arabicPeriod"/>
            </a:pPr>
            <a:endParaRPr lang="en-US" sz="2600" dirty="0">
              <a:latin typeface="Times New Roman" panose="02020603050405020304" pitchFamily="18" charset="0"/>
              <a:cs typeface="Times New Roman" panose="02020603050405020304" pitchFamily="18" charset="0"/>
            </a:endParaRPr>
          </a:p>
          <a:p>
            <a:pPr>
              <a:buFont typeface="+mj-lt"/>
              <a:buAutoNum type="arabicPeriod"/>
            </a:pPr>
            <a:r>
              <a:rPr lang="en-US" sz="2600" dirty="0">
                <a:latin typeface="Times New Roman" panose="02020603050405020304" pitchFamily="18" charset="0"/>
                <a:cs typeface="Times New Roman" panose="02020603050405020304" pitchFamily="18" charset="0"/>
              </a:rPr>
              <a:t>Limited Functionality </a:t>
            </a:r>
          </a:p>
          <a:p>
            <a:pPr>
              <a:buFont typeface="+mj-lt"/>
              <a:buAutoNum type="arabicPeriod"/>
            </a:pPr>
            <a:endParaRPr lang="en-US" sz="2600" dirty="0">
              <a:latin typeface="Times New Roman" panose="02020603050405020304" pitchFamily="18" charset="0"/>
              <a:cs typeface="Times New Roman" panose="02020603050405020304" pitchFamily="18" charset="0"/>
            </a:endParaRPr>
          </a:p>
          <a:p>
            <a:pPr>
              <a:buFont typeface="+mj-lt"/>
              <a:buAutoNum type="arabicPeriod"/>
            </a:pPr>
            <a:r>
              <a:rPr lang="en-US" sz="2600" dirty="0">
                <a:latin typeface="Times New Roman" panose="02020603050405020304" pitchFamily="18" charset="0"/>
                <a:cs typeface="Times New Roman" panose="02020603050405020304" pitchFamily="18" charset="0"/>
              </a:rPr>
              <a:t>User Dependency</a:t>
            </a:r>
          </a:p>
        </p:txBody>
      </p:sp>
    </p:spTree>
    <p:extLst>
      <p:ext uri="{BB962C8B-B14F-4D97-AF65-F5344CB8AC3E}">
        <p14:creationId xmlns:p14="http://schemas.microsoft.com/office/powerpoint/2010/main" val="2540837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555" y="70854"/>
            <a:ext cx="10515600" cy="1325563"/>
          </a:xfrm>
        </p:spPr>
        <p:txBody>
          <a:bodyPr>
            <a:normAutofit/>
          </a:bodyPr>
          <a:lstStyle/>
          <a:p>
            <a:r>
              <a:rPr lang="en-US" altLang="en-US" u="sng" dirty="0">
                <a:latin typeface="Times New Roman" panose="02020603050405020304" pitchFamily="18" charset="0"/>
                <a:cs typeface="Times New Roman" panose="02020603050405020304" pitchFamily="18" charset="0"/>
                <a:sym typeface="+mn-ea"/>
              </a:rPr>
              <a:t>Proposed system </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3555" y="1513073"/>
            <a:ext cx="9938657" cy="4634285"/>
          </a:xfrm>
        </p:spPr>
        <p:txBody>
          <a:bodyPr>
            <a:noAutofit/>
          </a:bodyPr>
          <a:lstStyle/>
          <a:p>
            <a:r>
              <a:rPr lang="en-US" sz="2400" dirty="0">
                <a:latin typeface="Times New Roman" panose="02020603050405020304" pitchFamily="18" charset="0"/>
                <a:cs typeface="Times New Roman" panose="02020603050405020304" pitchFamily="18" charset="0"/>
              </a:rPr>
              <a:t>The proposed system is designed to assist visually impaired individuals by detecting obstacles using an ultrasonic sensor and providing alerts through vibration and sound. It uses the ESP8266 microcontroller for processing data and enabling wireless communication between modules. The system also includes GPS for location tracking, enhancing user safety. Overall, it is a portable, low-cost, and user-friendly solution that improves mobility and independence.</a:t>
            </a:r>
          </a:p>
          <a:p>
            <a:r>
              <a:rPr lang="en-US" sz="2400" dirty="0">
                <a:latin typeface="Times New Roman" panose="02020603050405020304" pitchFamily="18" charset="0"/>
                <a:cs typeface="Times New Roman" panose="02020603050405020304" pitchFamily="18" charset="0"/>
              </a:rPr>
              <a:t>Additionally, the system operates in real time, ensuring quick response to environmental changes. The combination of haptic and audio feedback makes it effective even in noisy surroundings, and the simple design allows easy usage without requiring special training.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922421-F917-2BF6-3C8E-35C59389CB53}"/>
              </a:ext>
            </a:extLst>
          </p:cNvPr>
          <p:cNvSpPr>
            <a:spLocks noChangeArrowheads="1"/>
          </p:cNvSpPr>
          <p:nvPr/>
        </p:nvSpPr>
        <p:spPr bwMode="auto">
          <a:xfrm>
            <a:off x="615821" y="2232403"/>
            <a:ext cx="10496938"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Obstacle Detection: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Communication:</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Location Tracking:</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 Cost and Portable: </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Haptic Feedback: </a:t>
            </a:r>
          </a:p>
        </p:txBody>
      </p:sp>
      <p:sp>
        <p:nvSpPr>
          <p:cNvPr id="4" name="TextBox 3">
            <a:extLst>
              <a:ext uri="{FF2B5EF4-FFF2-40B4-BE49-F238E27FC236}">
                <a16:creationId xmlns:a16="http://schemas.microsoft.com/office/drawing/2014/main" id="{94175D46-6D3F-C6DD-F730-EDED26A476C2}"/>
              </a:ext>
            </a:extLst>
          </p:cNvPr>
          <p:cNvSpPr txBox="1"/>
          <p:nvPr/>
        </p:nvSpPr>
        <p:spPr>
          <a:xfrm>
            <a:off x="615821" y="626906"/>
            <a:ext cx="7606782" cy="707886"/>
          </a:xfrm>
          <a:prstGeom prst="rect">
            <a:avLst/>
          </a:prstGeom>
          <a:noFill/>
        </p:spPr>
        <p:txBody>
          <a:bodyPr wrap="square">
            <a:spAutoFit/>
          </a:bodyPr>
          <a:lstStyle/>
          <a:p>
            <a:r>
              <a:rPr lang="en-IN" sz="4000" u="sng">
                <a:latin typeface="Times New Roman" panose="02020603050405020304" pitchFamily="18" charset="0"/>
                <a:cs typeface="Times New Roman" panose="02020603050405020304" pitchFamily="18" charset="0"/>
              </a:rPr>
              <a:t>Advantages of Proposed System</a:t>
            </a:r>
          </a:p>
        </p:txBody>
      </p:sp>
    </p:spTree>
    <p:extLst>
      <p:ext uri="{BB962C8B-B14F-4D97-AF65-F5344CB8AC3E}">
        <p14:creationId xmlns:p14="http://schemas.microsoft.com/office/powerpoint/2010/main" val="3002722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2A4514-05D4-ECD0-DA82-FDFAF0DEDE81}"/>
              </a:ext>
            </a:extLst>
          </p:cNvPr>
          <p:cNvSpPr txBox="1"/>
          <p:nvPr/>
        </p:nvSpPr>
        <p:spPr>
          <a:xfrm>
            <a:off x="755779" y="212734"/>
            <a:ext cx="10929402" cy="6001643"/>
          </a:xfrm>
          <a:prstGeom prst="rect">
            <a:avLst/>
          </a:prstGeom>
          <a:noFill/>
        </p:spPr>
        <p:txBody>
          <a:bodyPr wrap="square">
            <a:spAutoFit/>
          </a:bodyPr>
          <a:lstStyle/>
          <a:p>
            <a:pPr>
              <a:buNone/>
            </a:pPr>
            <a:r>
              <a:rPr lang="en-US" sz="3600" u="sng" dirty="0">
                <a:latin typeface="Times New Roman" panose="02020603050405020304" pitchFamily="18" charset="0"/>
                <a:cs typeface="Times New Roman" panose="02020603050405020304" pitchFamily="18" charset="0"/>
              </a:rPr>
              <a:t>Hardware Requirements</a:t>
            </a:r>
          </a:p>
          <a:p>
            <a:pPr>
              <a:buNone/>
            </a:pPr>
            <a:endParaRPr lang="en-US" sz="3600" u="sng"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ESP8266 Microcontroller</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Ultrasonic Sensor</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R.P.S </a:t>
            </a:r>
            <a:r>
              <a:rPr lang="en-US" sz="2400" dirty="0" err="1">
                <a:latin typeface="Times New Roman" panose="02020603050405020304" pitchFamily="18" charset="0"/>
                <a:cs typeface="Times New Roman" panose="02020603050405020304" pitchFamily="18" charset="0"/>
              </a:rPr>
              <a:t>ModuleGPS</a:t>
            </a:r>
            <a:r>
              <a:rPr lang="en-US" sz="2400" dirty="0">
                <a:latin typeface="Times New Roman" panose="02020603050405020304" pitchFamily="18" charset="0"/>
                <a:cs typeface="Times New Roman" panose="02020603050405020304" pitchFamily="18" charset="0"/>
              </a:rPr>
              <a:t> Module</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Push Button</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Vibration Motor</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Buzzer</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Power Supply / BatteryConnecting Wires and Breadboard</a:t>
            </a:r>
          </a:p>
        </p:txBody>
      </p:sp>
    </p:spTree>
    <p:extLst>
      <p:ext uri="{BB962C8B-B14F-4D97-AF65-F5344CB8AC3E}">
        <p14:creationId xmlns:p14="http://schemas.microsoft.com/office/powerpoint/2010/main" val="149145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535A1B-498B-E632-C1E2-ACB67FB02415}"/>
              </a:ext>
            </a:extLst>
          </p:cNvPr>
          <p:cNvSpPr txBox="1"/>
          <p:nvPr/>
        </p:nvSpPr>
        <p:spPr>
          <a:xfrm>
            <a:off x="653143" y="838811"/>
            <a:ext cx="10356979" cy="5079532"/>
          </a:xfrm>
          <a:prstGeom prst="rect">
            <a:avLst/>
          </a:prstGeom>
          <a:noFill/>
        </p:spPr>
        <p:txBody>
          <a:bodyPr wrap="square">
            <a:spAutoFit/>
          </a:bodyPr>
          <a:lstStyle/>
          <a:p>
            <a:pPr>
              <a:buNone/>
            </a:pPr>
            <a:r>
              <a:rPr lang="en-US" sz="4000" u="sng" dirty="0">
                <a:latin typeface="Times New Roman" panose="02020603050405020304" pitchFamily="18" charset="0"/>
                <a:cs typeface="Times New Roman" panose="02020603050405020304" pitchFamily="18" charset="0"/>
              </a:rPr>
              <a:t>Software Requirements</a:t>
            </a:r>
          </a:p>
          <a:p>
            <a:pPr>
              <a:buNone/>
            </a:pPr>
            <a:endParaRPr lang="en-US" sz="3200" u="sng" dirty="0">
              <a:latin typeface="Times New Roman" panose="02020603050405020304" pitchFamily="18" charset="0"/>
              <a:cs typeface="Times New Roman" panose="02020603050405020304" pitchFamily="18" charset="0"/>
            </a:endParaRPr>
          </a:p>
          <a:p>
            <a:pPr marL="514350" indent="-514350">
              <a:lnSpc>
                <a:spcPct val="200000"/>
              </a:lnSpc>
              <a:buFont typeface="+mj-lt"/>
              <a:buAutoNum type="arabicPeriod"/>
            </a:pPr>
            <a:r>
              <a:rPr lang="en-US" sz="2600" dirty="0">
                <a:latin typeface="Times New Roman" panose="02020603050405020304" pitchFamily="18" charset="0"/>
                <a:cs typeface="Times New Roman" panose="02020603050405020304" pitchFamily="18" charset="0"/>
              </a:rPr>
              <a:t>Arduino IDE</a:t>
            </a:r>
          </a:p>
          <a:p>
            <a:pPr marL="514350" indent="-514350">
              <a:lnSpc>
                <a:spcPct val="200000"/>
              </a:lnSpc>
              <a:buFont typeface="+mj-lt"/>
              <a:buAutoNum type="arabicPeriod"/>
            </a:pPr>
            <a:r>
              <a:rPr lang="en-US" sz="2600" dirty="0">
                <a:latin typeface="Times New Roman" panose="02020603050405020304" pitchFamily="18" charset="0"/>
                <a:cs typeface="Times New Roman" panose="02020603050405020304" pitchFamily="18" charset="0"/>
              </a:rPr>
              <a:t>Embedded C / Arduino Programming Language</a:t>
            </a:r>
          </a:p>
          <a:p>
            <a:pPr marL="514350" indent="-514350">
              <a:lnSpc>
                <a:spcPct val="200000"/>
              </a:lnSpc>
              <a:buFont typeface="+mj-lt"/>
              <a:buAutoNum type="arabicPeriod"/>
            </a:pPr>
            <a:r>
              <a:rPr lang="en-US" sz="2600" dirty="0">
                <a:latin typeface="Times New Roman" panose="02020603050405020304" pitchFamily="18" charset="0"/>
                <a:cs typeface="Times New Roman" panose="02020603050405020304" pitchFamily="18" charset="0"/>
              </a:rPr>
              <a:t> ESP8266 Libraries</a:t>
            </a:r>
          </a:p>
          <a:p>
            <a:pPr marL="514350" indent="-514350">
              <a:lnSpc>
                <a:spcPct val="200000"/>
              </a:lnSpc>
              <a:buFont typeface="+mj-lt"/>
              <a:buAutoNum type="arabicPeriod"/>
            </a:pPr>
            <a:r>
              <a:rPr lang="en-US" sz="2600" dirty="0">
                <a:latin typeface="Times New Roman" panose="02020603050405020304" pitchFamily="18" charset="0"/>
                <a:cs typeface="Times New Roman" panose="02020603050405020304" pitchFamily="18" charset="0"/>
              </a:rPr>
              <a:t> Serial Monitor</a:t>
            </a:r>
          </a:p>
          <a:p>
            <a:pPr marL="514350" indent="-514350">
              <a:lnSpc>
                <a:spcPct val="200000"/>
              </a:lnSpc>
              <a:buFont typeface="+mj-lt"/>
              <a:buAutoNum type="arabicPeriod"/>
            </a:pPr>
            <a:r>
              <a:rPr lang="en-US" sz="2600" dirty="0">
                <a:latin typeface="Times New Roman" panose="02020603050405020304" pitchFamily="18" charset="0"/>
                <a:cs typeface="Times New Roman" panose="02020603050405020304" pitchFamily="18" charset="0"/>
              </a:rPr>
              <a:t>Mobile Application</a:t>
            </a:r>
          </a:p>
        </p:txBody>
      </p:sp>
    </p:spTree>
    <p:extLst>
      <p:ext uri="{BB962C8B-B14F-4D97-AF65-F5344CB8AC3E}">
        <p14:creationId xmlns:p14="http://schemas.microsoft.com/office/powerpoint/2010/main" val="4091722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FFCEB-3F40-6E85-F219-5E6F3E9542A1}"/>
              </a:ext>
            </a:extLst>
          </p:cNvPr>
          <p:cNvSpPr txBox="1"/>
          <p:nvPr/>
        </p:nvSpPr>
        <p:spPr>
          <a:xfrm>
            <a:off x="958720" y="295860"/>
            <a:ext cx="6097554" cy="769441"/>
          </a:xfrm>
          <a:prstGeom prst="rect">
            <a:avLst/>
          </a:prstGeom>
          <a:noFill/>
        </p:spPr>
        <p:txBody>
          <a:bodyPr wrap="square">
            <a:spAutoFit/>
          </a:bodyPr>
          <a:lstStyle/>
          <a:p>
            <a:r>
              <a:rPr lang="en-US" sz="4400" u="sng">
                <a:latin typeface="Times New Roman" panose="02020603050405020304" pitchFamily="18" charset="0"/>
                <a:cs typeface="Times New Roman" panose="02020603050405020304" pitchFamily="18" charset="0"/>
              </a:rPr>
              <a:t>NOVELTY</a:t>
            </a:r>
            <a:endParaRPr lang="en-IN" sz="4400" u="sng">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483AF4-5AAF-45B9-790F-AC3F76C79863}"/>
              </a:ext>
            </a:extLst>
          </p:cNvPr>
          <p:cNvSpPr txBox="1"/>
          <p:nvPr/>
        </p:nvSpPr>
        <p:spPr>
          <a:xfrm>
            <a:off x="958720" y="1345220"/>
            <a:ext cx="9957319" cy="4524315"/>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The novelty of this project lies in the development of a wearable haptic interface system that assists disabled individuals by converting environmental information into vibration-based feedback. The system uses sensors to detect obstacles and provides real-time alerts through a vibration motor and buzzer, helping users navigate their surroundings safely without relying completely on visual or audio cues.</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Another unique aspect of the project is the integration of ultrasonic sensors, ESP8266 wireless communication, and GPS technology in a low-cost and compact design. This combination improves obstacle detection, enables location tracking, and allows efficient communication between system modules, making the device practical and useful for everyday mobility assistance.</a:t>
            </a:r>
          </a:p>
        </p:txBody>
      </p:sp>
    </p:spTree>
    <p:extLst>
      <p:ext uri="{BB962C8B-B14F-4D97-AF65-F5344CB8AC3E}">
        <p14:creationId xmlns:p14="http://schemas.microsoft.com/office/powerpoint/2010/main" val="2516089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1330"/>
            <a:ext cx="10515600" cy="1325563"/>
          </a:xfrm>
        </p:spPr>
        <p:txBody>
          <a:bodyPr/>
          <a:lstStyle/>
          <a:p>
            <a:r>
              <a:rPr lang="en-US" altLang="en-US" u="sng">
                <a:latin typeface="Times New Roman" panose="02020603050405020304" pitchFamily="18" charset="0"/>
                <a:cs typeface="Times New Roman" panose="02020603050405020304" pitchFamily="18" charset="0"/>
              </a:rPr>
              <a:t>System architecture</a:t>
            </a:r>
          </a:p>
        </p:txBody>
      </p:sp>
      <p:pic>
        <p:nvPicPr>
          <p:cNvPr id="9" name="Content Placeholder 8" descr="The diagram illustrates a system architecture for an IoT device, featuring components such as a transmitter module, receiver module, ultrasonic sensor, ESP8266 microcontroller, IMU sensor, vibration motor, GPS module, and various other elements for wireless communication, data processing, haptic feedback, and audio alerts, all aimed at mobile tracking and monitoring.&#10;&#10;AI-generated content may be incorrect.">
            <a:extLst>
              <a:ext uri="{FF2B5EF4-FFF2-40B4-BE49-F238E27FC236}">
                <a16:creationId xmlns:a16="http://schemas.microsoft.com/office/drawing/2014/main" id="{16A0FA67-4414-3011-5F44-3920C3038F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029048" y="1303004"/>
            <a:ext cx="7880498" cy="5253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DD1956-0FBB-5721-A6C5-FC47A07D271D}"/>
              </a:ext>
            </a:extLst>
          </p:cNvPr>
          <p:cNvSpPr txBox="1"/>
          <p:nvPr/>
        </p:nvSpPr>
        <p:spPr>
          <a:xfrm>
            <a:off x="1238639" y="397645"/>
            <a:ext cx="6097554" cy="707886"/>
          </a:xfrm>
          <a:prstGeom prst="rect">
            <a:avLst/>
          </a:prstGeom>
          <a:noFill/>
        </p:spPr>
        <p:txBody>
          <a:bodyPr wrap="square">
            <a:spAutoFit/>
          </a:bodyPr>
          <a:lstStyle/>
          <a:p>
            <a:r>
              <a:rPr lang="en-IN" sz="4000" u="sng">
                <a:latin typeface="Times New Roman" panose="02020603050405020304" pitchFamily="18" charset="0"/>
                <a:cs typeface="Times New Roman" panose="02020603050405020304" pitchFamily="18" charset="0"/>
              </a:rPr>
              <a:t>Modules Used</a:t>
            </a:r>
          </a:p>
        </p:txBody>
      </p:sp>
      <p:sp>
        <p:nvSpPr>
          <p:cNvPr id="4" name="Rectangle 1">
            <a:extLst>
              <a:ext uri="{FF2B5EF4-FFF2-40B4-BE49-F238E27FC236}">
                <a16:creationId xmlns:a16="http://schemas.microsoft.com/office/drawing/2014/main" id="{EE447046-EEBD-5B91-A6BD-A8FDF118B09B}"/>
              </a:ext>
            </a:extLst>
          </p:cNvPr>
          <p:cNvSpPr>
            <a:spLocks noChangeArrowheads="1"/>
          </p:cNvSpPr>
          <p:nvPr/>
        </p:nvSpPr>
        <p:spPr bwMode="auto">
          <a:xfrm>
            <a:off x="1238639" y="1582097"/>
            <a:ext cx="919998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Obstacle Detection Module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Uses an ultrasonic sensor to detect nearby obstacles and measure distance.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Wireless Communication Module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Enables data transfer between transmitter and receiver using ESP8266.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Location Tracking Module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GPS module provides the user’s location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Processing Module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The ESP8266 microcontroller processes sensor data and controls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Alert Module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Vibration motor and buzzer provide vibration and sound alerts to the user.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User Input Module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Push button is used for manual input or emergency activation.</a:t>
            </a:r>
          </a:p>
        </p:txBody>
      </p:sp>
    </p:spTree>
    <p:extLst>
      <p:ext uri="{BB962C8B-B14F-4D97-AF65-F5344CB8AC3E}">
        <p14:creationId xmlns:p14="http://schemas.microsoft.com/office/powerpoint/2010/main" val="4006157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FC6BC2-1D02-0167-752A-45E40B210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7967" y="1064731"/>
            <a:ext cx="6843813" cy="4402905"/>
          </a:xfrm>
          <a:prstGeom prst="rect">
            <a:avLst/>
          </a:prstGeom>
        </p:spPr>
      </p:pic>
    </p:spTree>
    <p:extLst>
      <p:ext uri="{BB962C8B-B14F-4D97-AF65-F5344CB8AC3E}">
        <p14:creationId xmlns:p14="http://schemas.microsoft.com/office/powerpoint/2010/main" val="1472730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8D7DA3-DE52-8B1E-F961-1D408F05B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437" y="1038082"/>
            <a:ext cx="7649181" cy="4592743"/>
          </a:xfrm>
          <a:prstGeom prst="rect">
            <a:avLst/>
          </a:prstGeom>
        </p:spPr>
      </p:pic>
    </p:spTree>
    <p:extLst>
      <p:ext uri="{BB962C8B-B14F-4D97-AF65-F5344CB8AC3E}">
        <p14:creationId xmlns:p14="http://schemas.microsoft.com/office/powerpoint/2010/main" val="4155830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descr="Generated image: ESP8266-based obstacle detection system diagram">
            <a:extLst>
              <a:ext uri="{FF2B5EF4-FFF2-40B4-BE49-F238E27FC236}">
                <a16:creationId xmlns:a16="http://schemas.microsoft.com/office/drawing/2014/main" id="{4E2A174A-E216-D3E6-67EC-4053DA1A455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descr="The diagram illustrates an integrated system where an Ultrasonic Sensor and ESP8266 GPS Module detect obstacles, process data, and send alerts, which are received by an Alert System that activates vibration and buzzer to notify the user.&#10;&#10;AI-generated content may be incorrect.">
            <a:extLst>
              <a:ext uri="{FF2B5EF4-FFF2-40B4-BE49-F238E27FC236}">
                <a16:creationId xmlns:a16="http://schemas.microsoft.com/office/drawing/2014/main" id="{D413E75D-875D-ED49-B410-F54E61943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209" y="-31899"/>
            <a:ext cx="9856382" cy="6570921"/>
          </a:xfrm>
          <a:prstGeom prst="rect">
            <a:avLst/>
          </a:prstGeom>
        </p:spPr>
      </p:pic>
    </p:spTree>
    <p:extLst>
      <p:ext uri="{BB962C8B-B14F-4D97-AF65-F5344CB8AC3E}">
        <p14:creationId xmlns:p14="http://schemas.microsoft.com/office/powerpoint/2010/main" val="4206617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D2CFD8-BF4B-7BDF-905D-C293780DBD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4765" y="582864"/>
            <a:ext cx="9133956" cy="5998689"/>
          </a:xfrm>
          <a:prstGeom prst="rect">
            <a:avLst/>
          </a:prstGeom>
        </p:spPr>
      </p:pic>
      <p:sp>
        <p:nvSpPr>
          <p:cNvPr id="2" name="AutoShape 2" descr="Generated image: Activity diagram for haptic system">
            <a:extLst>
              <a:ext uri="{FF2B5EF4-FFF2-40B4-BE49-F238E27FC236}">
                <a16:creationId xmlns:a16="http://schemas.microsoft.com/office/drawing/2014/main" id="{62E99725-F778-9F63-B7AF-CDB484D0EE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FD40C456-2D3D-1BFE-8A7E-7397356FBEE6}"/>
                  </a:ext>
                </a:extLst>
              </p14:cNvPr>
              <p14:cNvContentPartPr/>
              <p14:nvPr/>
            </p14:nvContentPartPr>
            <p14:xfrm>
              <a:off x="5773250" y="3440028"/>
              <a:ext cx="540720" cy="198720"/>
            </p14:xfrm>
          </p:contentPart>
        </mc:Choice>
        <mc:Fallback>
          <p:pic>
            <p:nvPicPr>
              <p:cNvPr id="9" name="Ink 8">
                <a:extLst>
                  <a:ext uri="{FF2B5EF4-FFF2-40B4-BE49-F238E27FC236}">
                    <a16:creationId xmlns:a16="http://schemas.microsoft.com/office/drawing/2014/main" id="{FD40C456-2D3D-1BFE-8A7E-7397356FBEE6}"/>
                  </a:ext>
                </a:extLst>
              </p:cNvPr>
              <p:cNvPicPr/>
              <p:nvPr/>
            </p:nvPicPr>
            <p:blipFill>
              <a:blip r:embed="rId4"/>
              <a:stretch>
                <a:fillRect/>
              </a:stretch>
            </p:blipFill>
            <p:spPr>
              <a:xfrm>
                <a:off x="5710610" y="3377388"/>
                <a:ext cx="666360" cy="324360"/>
              </a:xfrm>
              <a:prstGeom prst="rect">
                <a:avLst/>
              </a:prstGeom>
            </p:spPr>
          </p:pic>
        </mc:Fallback>
      </mc:AlternateContent>
      <p:sp>
        <p:nvSpPr>
          <p:cNvPr id="11" name="Rectangle 10">
            <a:extLst>
              <a:ext uri="{FF2B5EF4-FFF2-40B4-BE49-F238E27FC236}">
                <a16:creationId xmlns:a16="http://schemas.microsoft.com/office/drawing/2014/main" id="{E39D7BC2-D070-5152-4D53-335945E42BC7}"/>
              </a:ext>
            </a:extLst>
          </p:cNvPr>
          <p:cNvSpPr/>
          <p:nvPr/>
        </p:nvSpPr>
        <p:spPr>
          <a:xfrm>
            <a:off x="4302478" y="2554381"/>
            <a:ext cx="460382" cy="400110"/>
          </a:xfrm>
          <a:prstGeom prst="rect">
            <a:avLst/>
          </a:prstGeom>
          <a:noFill/>
        </p:spPr>
        <p:txBody>
          <a:bodyPr wrap="none" lIns="91440" tIns="45720" rIns="91440" bIns="45720">
            <a:spAutoFit/>
          </a:bodyPr>
          <a:lstStyle/>
          <a:p>
            <a:pPr algn="ctr"/>
            <a:r>
              <a:rPr lang="en-US" sz="2000" cap="none" spc="0" dirty="0">
                <a:ln/>
                <a:solidFill>
                  <a:schemeClr val="accent1">
                    <a:lumMod val="50000"/>
                  </a:schemeClr>
                </a:solidFill>
                <a:effectLst>
                  <a:outerShdw blurRad="38100" dist="19050" dir="2700000" algn="tl" rotWithShape="0">
                    <a:schemeClr val="dk1">
                      <a:lumMod val="50000"/>
                      <a:alpha val="40000"/>
                    </a:schemeClr>
                  </a:outerShdw>
                </a:effectLst>
              </a:rPr>
              <a:t>no</a:t>
            </a:r>
            <a:endParaRPr lang="en-IN" sz="2000" cap="none" spc="0" dirty="0">
              <a:ln/>
              <a:solidFill>
                <a:schemeClr val="accent1">
                  <a:lumMod val="50000"/>
                </a:schemeClr>
              </a:solidFill>
              <a:effectLst>
                <a:outerShdw blurRad="38100" dist="19050" dir="2700000" algn="tl" rotWithShape="0">
                  <a:schemeClr val="dk1">
                    <a:lumMod val="50000"/>
                    <a:alpha val="40000"/>
                  </a:schemeClr>
                </a:outerShdw>
              </a:effectLst>
            </a:endParaRPr>
          </a:p>
        </p:txBody>
      </p:sp>
    </p:spTree>
    <p:extLst>
      <p:ext uri="{BB962C8B-B14F-4D97-AF65-F5344CB8AC3E}">
        <p14:creationId xmlns:p14="http://schemas.microsoft.com/office/powerpoint/2010/main" val="2834283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0BFCA-AAF9-1BD6-DE52-D62B43613420}"/>
              </a:ext>
            </a:extLst>
          </p:cNvPr>
          <p:cNvSpPr txBox="1"/>
          <p:nvPr/>
        </p:nvSpPr>
        <p:spPr>
          <a:xfrm>
            <a:off x="953730" y="334296"/>
            <a:ext cx="2004075" cy="769441"/>
          </a:xfrm>
          <a:prstGeom prst="rect">
            <a:avLst/>
          </a:prstGeom>
          <a:noFill/>
        </p:spPr>
        <p:txBody>
          <a:bodyPr wrap="none" rtlCol="0">
            <a:spAutoFit/>
          </a:bodyPr>
          <a:lstStyle/>
          <a:p>
            <a:r>
              <a:rPr lang="en-IN" sz="4400" u="sng" dirty="0">
                <a:latin typeface="Times New Roman" panose="02020603050405020304" pitchFamily="18" charset="0"/>
                <a:cs typeface="Times New Roman" panose="02020603050405020304" pitchFamily="18" charset="0"/>
              </a:rPr>
              <a:t>Results</a:t>
            </a:r>
            <a:r>
              <a:rPr lang="en-IN" sz="4400" dirty="0">
                <a:latin typeface="Times New Roman" panose="02020603050405020304" pitchFamily="18" charset="0"/>
                <a:cs typeface="Times New Roman" panose="02020603050405020304" pitchFamily="18" charset="0"/>
              </a:rPr>
              <a:t>:</a:t>
            </a:r>
            <a:endParaRPr lang="en-IN" dirty="0"/>
          </a:p>
        </p:txBody>
      </p:sp>
      <p:pic>
        <p:nvPicPr>
          <p:cNvPr id="3" name="Picture 2">
            <a:extLst>
              <a:ext uri="{FF2B5EF4-FFF2-40B4-BE49-F238E27FC236}">
                <a16:creationId xmlns:a16="http://schemas.microsoft.com/office/drawing/2014/main" id="{347B0E77-B570-F046-B885-D117B555185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166" y="2042324"/>
            <a:ext cx="5691792" cy="3119612"/>
          </a:xfrm>
          <a:prstGeom prst="rect">
            <a:avLst/>
          </a:prstGeom>
          <a:noFill/>
          <a:ln>
            <a:noFill/>
          </a:ln>
        </p:spPr>
      </p:pic>
      <p:pic>
        <p:nvPicPr>
          <p:cNvPr id="4" name="Picture 3">
            <a:extLst>
              <a:ext uri="{FF2B5EF4-FFF2-40B4-BE49-F238E27FC236}">
                <a16:creationId xmlns:a16="http://schemas.microsoft.com/office/drawing/2014/main" id="{7ED319B0-F026-4D3D-EE77-4CD56E2B9F5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7613" y="489937"/>
            <a:ext cx="4513006" cy="6168951"/>
          </a:xfrm>
          <a:prstGeom prst="rect">
            <a:avLst/>
          </a:prstGeom>
          <a:noFill/>
          <a:ln>
            <a:noFill/>
          </a:ln>
        </p:spPr>
      </p:pic>
    </p:spTree>
    <p:extLst>
      <p:ext uri="{BB962C8B-B14F-4D97-AF65-F5344CB8AC3E}">
        <p14:creationId xmlns:p14="http://schemas.microsoft.com/office/powerpoint/2010/main" val="2210325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0FA657-00A3-1987-DA78-985765199071}"/>
              </a:ext>
            </a:extLst>
          </p:cNvPr>
          <p:cNvSpPr txBox="1"/>
          <p:nvPr/>
        </p:nvSpPr>
        <p:spPr>
          <a:xfrm>
            <a:off x="968051" y="519795"/>
            <a:ext cx="6097554" cy="769441"/>
          </a:xfrm>
          <a:prstGeom prst="rect">
            <a:avLst/>
          </a:prstGeom>
          <a:noFill/>
        </p:spPr>
        <p:txBody>
          <a:bodyPr wrap="square">
            <a:spAutoFit/>
          </a:bodyPr>
          <a:lstStyle/>
          <a:p>
            <a:r>
              <a:rPr lang="en-IN" sz="4400" u="sng"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0A00AFF3-633F-20B1-7D6D-E31FD0011931}"/>
              </a:ext>
            </a:extLst>
          </p:cNvPr>
          <p:cNvSpPr txBox="1"/>
          <p:nvPr/>
        </p:nvSpPr>
        <p:spPr>
          <a:xfrm>
            <a:off x="968051" y="1587815"/>
            <a:ext cx="10126047" cy="4154984"/>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The Haptic Interface System for Disabled Individuals was developed to assist visually impaired or disabled users in navigating their surroundings safely. The system uses sensors to detect obstacles and provides alerts through vibration and sound, allowing users to become aware of nearby objects without relying on vision.</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The project successfully demonstrates how technologies such as the ESP8266 microcontroller, ultrasonic sensors, and GPS module can be integrated to create a useful assistive device. The system is cost-effective, portable, and capable of improving the independence and safety of disabled individuals during daily movement.</a:t>
            </a:r>
          </a:p>
        </p:txBody>
      </p:sp>
    </p:spTree>
    <p:extLst>
      <p:ext uri="{BB962C8B-B14F-4D97-AF65-F5344CB8AC3E}">
        <p14:creationId xmlns:p14="http://schemas.microsoft.com/office/powerpoint/2010/main" val="1272761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AACE75-C4DB-3E25-FBA9-EBABC108A8CC}"/>
              </a:ext>
            </a:extLst>
          </p:cNvPr>
          <p:cNvSpPr txBox="1"/>
          <p:nvPr/>
        </p:nvSpPr>
        <p:spPr>
          <a:xfrm>
            <a:off x="934065" y="530198"/>
            <a:ext cx="9252154" cy="6247864"/>
          </a:xfrm>
          <a:prstGeom prst="rect">
            <a:avLst/>
          </a:prstGeom>
          <a:noFill/>
        </p:spPr>
        <p:txBody>
          <a:bodyPr wrap="square">
            <a:spAutoFit/>
          </a:bodyPr>
          <a:lstStyle/>
          <a:p>
            <a:pPr>
              <a:buNone/>
            </a:pPr>
            <a:r>
              <a:rPr lang="en-US" sz="4400" u="sng" dirty="0">
                <a:latin typeface="Times New Roman" panose="02020603050405020304" pitchFamily="18" charset="0"/>
                <a:cs typeface="Times New Roman" panose="02020603050405020304" pitchFamily="18" charset="0"/>
              </a:rPr>
              <a:t>Future Enhancements</a:t>
            </a:r>
          </a:p>
          <a:p>
            <a:pPr>
              <a:buNone/>
            </a:pPr>
            <a:endParaRPr lang="en-US" sz="4400"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Integration with AI:</a:t>
            </a:r>
            <a:r>
              <a:rPr lang="en-US" sz="2400" dirty="0">
                <a:latin typeface="Times New Roman" panose="02020603050405020304" pitchFamily="18" charset="0"/>
                <a:cs typeface="Times New Roman" panose="02020603050405020304" pitchFamily="18" charset="0"/>
              </a:rPr>
              <a:t> Use machine learning for better obstacle recognition and decision-making.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Improved Sensors:</a:t>
            </a:r>
            <a:r>
              <a:rPr lang="en-US" sz="2400" dirty="0">
                <a:latin typeface="Times New Roman" panose="02020603050405020304" pitchFamily="18" charset="0"/>
                <a:cs typeface="Times New Roman" panose="02020603050405020304" pitchFamily="18" charset="0"/>
              </a:rPr>
              <a:t> Use advanced sensors (LiDAR/IR) for higher accuracy.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Mobile App Development:</a:t>
            </a:r>
            <a:r>
              <a:rPr lang="en-US" sz="2400" dirty="0">
                <a:latin typeface="Times New Roman" panose="02020603050405020304" pitchFamily="18" charset="0"/>
                <a:cs typeface="Times New Roman" panose="02020603050405020304" pitchFamily="18" charset="0"/>
              </a:rPr>
              <a:t> Develop a dedicated app for real-time monitoring and control.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Battery Optimization:</a:t>
            </a:r>
            <a:r>
              <a:rPr lang="en-US" sz="2400" dirty="0">
                <a:latin typeface="Times New Roman" panose="02020603050405020304" pitchFamily="18" charset="0"/>
                <a:cs typeface="Times New Roman" panose="02020603050405020304" pitchFamily="18" charset="0"/>
              </a:rPr>
              <a:t> Enhance power efficiency for longer usage.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Wearable Design:</a:t>
            </a:r>
            <a:r>
              <a:rPr lang="en-US" sz="2400" dirty="0">
                <a:latin typeface="Times New Roman" panose="02020603050405020304" pitchFamily="18" charset="0"/>
                <a:cs typeface="Times New Roman" panose="02020603050405020304" pitchFamily="18" charset="0"/>
              </a:rPr>
              <a:t> Convert the system into a compact wearable (belt/shoes/gloves).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Emergency Alert Feature:</a:t>
            </a:r>
            <a:r>
              <a:rPr lang="en-US" sz="2400" dirty="0">
                <a:latin typeface="Times New Roman" panose="02020603050405020304" pitchFamily="18" charset="0"/>
                <a:cs typeface="Times New Roman" panose="02020603050405020304" pitchFamily="18" charset="0"/>
              </a:rPr>
              <a:t> Send automatic alerts to caregivers during emergencies. </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Cloud Connectivity:</a:t>
            </a:r>
            <a:r>
              <a:rPr lang="en-US" sz="2400" dirty="0">
                <a:latin typeface="Times New Roman" panose="02020603050405020304" pitchFamily="18" charset="0"/>
                <a:cs typeface="Times New Roman" panose="02020603050405020304" pitchFamily="18" charset="0"/>
              </a:rPr>
              <a:t> Store and analyze user data for improved performance.</a:t>
            </a:r>
          </a:p>
        </p:txBody>
      </p:sp>
    </p:spTree>
    <p:extLst>
      <p:ext uri="{BB962C8B-B14F-4D97-AF65-F5344CB8AC3E}">
        <p14:creationId xmlns:p14="http://schemas.microsoft.com/office/powerpoint/2010/main" val="3646044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3DD462-B62D-FB21-67EC-2112C316CEE7}"/>
              </a:ext>
            </a:extLst>
          </p:cNvPr>
          <p:cNvSpPr txBox="1"/>
          <p:nvPr/>
        </p:nvSpPr>
        <p:spPr>
          <a:xfrm>
            <a:off x="245806" y="2298307"/>
            <a:ext cx="10844981" cy="3539430"/>
          </a:xfrm>
          <a:prstGeom prst="rect">
            <a:avLst/>
          </a:prstGeom>
          <a:noFill/>
        </p:spPr>
        <p:txBody>
          <a:bodyPr wrap="square">
            <a:spAutoFit/>
          </a:bodyPr>
          <a:lstStyle/>
          <a:p>
            <a:pPr marL="514350" indent="-514350" algn="just">
              <a:buFont typeface="+mj-lt"/>
              <a:buAutoNum type="arabicPeriod"/>
            </a:pPr>
            <a:r>
              <a:rPr lang="en-IN" sz="2800" dirty="0">
                <a:effectLst/>
                <a:latin typeface="Times New Roman" panose="02020603050405020304" pitchFamily="18" charset="0"/>
                <a:ea typeface="Times New Roman" panose="02020603050405020304" pitchFamily="18" charset="0"/>
              </a:rPr>
              <a:t>Human Haptic Perception, by Martin Grunwald, Birkhäuser Publishing, 2008.</a:t>
            </a:r>
            <a:endParaRPr lang="en-IN" sz="2400" dirty="0">
              <a:effectLst/>
              <a:latin typeface="Times New Roman" panose="02020603050405020304" pitchFamily="18" charset="0"/>
              <a:ea typeface="Times New Roman" panose="02020603050405020304" pitchFamily="18" charset="0"/>
            </a:endParaRPr>
          </a:p>
          <a:p>
            <a:pPr marL="514350" indent="-514350" algn="just">
              <a:buFont typeface="+mj-lt"/>
              <a:buAutoNum type="arabicPeriod"/>
            </a:pPr>
            <a:r>
              <a:rPr lang="en-IN" sz="2800" dirty="0">
                <a:effectLst/>
                <a:latin typeface="Times New Roman" panose="02020603050405020304" pitchFamily="18" charset="0"/>
                <a:ea typeface="Times New Roman" panose="02020603050405020304" pitchFamily="18" charset="0"/>
              </a:rPr>
              <a:t>Arduino IDE Documentation – </a:t>
            </a:r>
            <a:r>
              <a:rPr lang="en-IN" sz="2800" u="sng" dirty="0">
                <a:solidFill>
                  <a:srgbClr val="0000FF"/>
                </a:solidFill>
                <a:effectLst/>
                <a:latin typeface="Times New Roman" panose="02020603050405020304" pitchFamily="18" charset="0"/>
                <a:ea typeface="Times New Roman" panose="02020603050405020304" pitchFamily="18" charset="0"/>
                <a:hlinkClick r:id="rId2"/>
              </a:rPr>
              <a:t>https://www.arduino.cc/reference</a:t>
            </a:r>
            <a:endParaRPr lang="en-IN" sz="2400" dirty="0">
              <a:effectLst/>
              <a:latin typeface="Times New Roman" panose="02020603050405020304" pitchFamily="18" charset="0"/>
              <a:ea typeface="Times New Roman" panose="02020603050405020304" pitchFamily="18" charset="0"/>
            </a:endParaRPr>
          </a:p>
          <a:p>
            <a:pPr marL="514350" indent="-514350" algn="just">
              <a:buFont typeface="+mj-lt"/>
              <a:buAutoNum type="arabicPeriod"/>
            </a:pPr>
            <a:r>
              <a:rPr lang="en-IN" sz="2800" dirty="0">
                <a:effectLst/>
                <a:latin typeface="Times New Roman" panose="02020603050405020304" pitchFamily="18" charset="0"/>
                <a:ea typeface="Times New Roman" panose="02020603050405020304" pitchFamily="18" charset="0"/>
              </a:rPr>
              <a:t>ESP8266 Arduino Core Documentation – </a:t>
            </a:r>
            <a:r>
              <a:rPr lang="en-IN" sz="2800" u="sng" dirty="0">
                <a:solidFill>
                  <a:srgbClr val="0000FF"/>
                </a:solidFill>
                <a:effectLst/>
                <a:latin typeface="Times New Roman" panose="02020603050405020304" pitchFamily="18" charset="0"/>
                <a:ea typeface="Times New Roman" panose="02020603050405020304" pitchFamily="18" charset="0"/>
                <a:hlinkClick r:id="rId3"/>
              </a:rPr>
              <a:t>https://arduino-esp8266.readthedocs.io</a:t>
            </a:r>
            <a:endParaRPr lang="en-IN" sz="2400" dirty="0">
              <a:effectLst/>
              <a:latin typeface="Times New Roman" panose="02020603050405020304" pitchFamily="18" charset="0"/>
              <a:ea typeface="Times New Roman" panose="02020603050405020304" pitchFamily="18" charset="0"/>
            </a:endParaRPr>
          </a:p>
          <a:p>
            <a:pPr marL="514350" indent="-514350" algn="just">
              <a:buFont typeface="+mj-lt"/>
              <a:buAutoNum type="arabicPeriod"/>
            </a:pPr>
            <a:r>
              <a:rPr lang="en-IN" sz="2800" dirty="0">
                <a:effectLst/>
                <a:latin typeface="Times New Roman" panose="02020603050405020304" pitchFamily="18" charset="0"/>
                <a:ea typeface="Times New Roman" panose="02020603050405020304" pitchFamily="18" charset="0"/>
              </a:rPr>
              <a:t>ESP8266 Wi‑Fi Module Technical Datasheet – </a:t>
            </a:r>
            <a:r>
              <a:rPr lang="en-IN" sz="2800" dirty="0" err="1">
                <a:effectLst/>
                <a:latin typeface="Times New Roman" panose="02020603050405020304" pitchFamily="18" charset="0"/>
                <a:ea typeface="Times New Roman" panose="02020603050405020304" pitchFamily="18" charset="0"/>
              </a:rPr>
              <a:t>Espressif</a:t>
            </a:r>
            <a:r>
              <a:rPr lang="en-IN" sz="2800" dirty="0">
                <a:effectLst/>
                <a:latin typeface="Times New Roman" panose="02020603050405020304" pitchFamily="18" charset="0"/>
                <a:ea typeface="Times New Roman" panose="02020603050405020304" pitchFamily="18" charset="0"/>
              </a:rPr>
              <a:t> Systems.</a:t>
            </a:r>
            <a:endParaRPr lang="en-IN" sz="2400" dirty="0">
              <a:effectLst/>
              <a:latin typeface="Times New Roman" panose="02020603050405020304" pitchFamily="18" charset="0"/>
              <a:ea typeface="Times New Roman" panose="02020603050405020304" pitchFamily="18" charset="0"/>
            </a:endParaRPr>
          </a:p>
          <a:p>
            <a:pPr marL="514350" indent="-514350" algn="just">
              <a:buFont typeface="+mj-lt"/>
              <a:buAutoNum type="arabicPeriod"/>
            </a:pPr>
            <a:r>
              <a:rPr lang="en-IN" sz="2800" dirty="0">
                <a:effectLst/>
                <a:latin typeface="Times New Roman" panose="02020603050405020304" pitchFamily="18" charset="0"/>
                <a:ea typeface="Times New Roman" panose="02020603050405020304" pitchFamily="18" charset="0"/>
              </a:rPr>
              <a:t>HC‑SR04 Ultrasonic Sensor Datasheet – Distance Measuring Sensor Module.</a:t>
            </a:r>
            <a:endParaRPr lang="en-IN" sz="24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8F17B2CF-6491-B998-A414-1D5958445891}"/>
              </a:ext>
            </a:extLst>
          </p:cNvPr>
          <p:cNvSpPr txBox="1"/>
          <p:nvPr/>
        </p:nvSpPr>
        <p:spPr>
          <a:xfrm>
            <a:off x="245806" y="710069"/>
            <a:ext cx="6096000" cy="769441"/>
          </a:xfrm>
          <a:prstGeom prst="rect">
            <a:avLst/>
          </a:prstGeom>
          <a:noFill/>
        </p:spPr>
        <p:txBody>
          <a:bodyPr wrap="square">
            <a:spAutoFit/>
          </a:bodyPr>
          <a:lstStyle/>
          <a:p>
            <a:pPr lvl="1">
              <a:buSzPts val="1400"/>
              <a:tabLst>
                <a:tab pos="554355" algn="l"/>
              </a:tabLst>
            </a:pPr>
            <a:r>
              <a:rPr lang="en-US" sz="4400" u="sng" spc="-10" dirty="0">
                <a:effectLst/>
                <a:latin typeface="Times New Roman" panose="02020603050405020304" pitchFamily="18" charset="0"/>
                <a:ea typeface="Times New Roman" panose="02020603050405020304" pitchFamily="18" charset="0"/>
              </a:rPr>
              <a:t>References:</a:t>
            </a:r>
            <a:endParaRPr lang="en-IN" sz="4400" u="sng" spc="-1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73787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7B92B4-2233-E020-C7F4-DCE6EB297546}"/>
              </a:ext>
            </a:extLst>
          </p:cNvPr>
          <p:cNvSpPr txBox="1"/>
          <p:nvPr/>
        </p:nvSpPr>
        <p:spPr>
          <a:xfrm>
            <a:off x="943896" y="3105834"/>
            <a:ext cx="9802762" cy="830997"/>
          </a:xfrm>
          <a:prstGeom prst="rect">
            <a:avLst/>
          </a:prstGeom>
          <a:noFill/>
        </p:spPr>
        <p:txBody>
          <a:bodyPr wrap="square">
            <a:spAutoFit/>
          </a:bodyPr>
          <a:lstStyle/>
          <a:p>
            <a:pPr marL="194945" marR="889635">
              <a:lnSpc>
                <a:spcPct val="100000"/>
              </a:lnSpc>
              <a:spcBef>
                <a:spcPts val="5"/>
              </a:spcBef>
              <a:buNone/>
            </a:pPr>
            <a:r>
              <a:rPr lang="en-US" sz="2400" u="sng" dirty="0">
                <a:solidFill>
                  <a:srgbClr val="0000FF"/>
                </a:solidFill>
                <a:effectLst/>
                <a:latin typeface="Times New Roman" panose="02020603050405020304" pitchFamily="18" charset="0"/>
                <a:ea typeface="Times New Roman" panose="02020603050405020304" pitchFamily="18" charset="0"/>
                <a:hlinkClick r:id="rId2"/>
              </a:rPr>
              <a:t>https://github.com/abbu10101-design/HAPTIC-INTERFACE-SYSTEM-FOR-THE-DISABLED-INDIVIDUALS-</a:t>
            </a:r>
            <a:endParaRPr lang="en-IN" sz="24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778C603E-0855-5CD1-0AB2-74AFAA37558D}"/>
              </a:ext>
            </a:extLst>
          </p:cNvPr>
          <p:cNvSpPr txBox="1"/>
          <p:nvPr/>
        </p:nvSpPr>
        <p:spPr>
          <a:xfrm>
            <a:off x="747252" y="1339335"/>
            <a:ext cx="6096000" cy="769441"/>
          </a:xfrm>
          <a:prstGeom prst="rect">
            <a:avLst/>
          </a:prstGeom>
          <a:noFill/>
        </p:spPr>
        <p:txBody>
          <a:bodyPr wrap="square">
            <a:spAutoFit/>
          </a:bodyPr>
          <a:lstStyle/>
          <a:p>
            <a:pPr lvl="1">
              <a:buSzPts val="1400"/>
              <a:tabLst>
                <a:tab pos="460375" algn="l"/>
              </a:tabLst>
            </a:pPr>
            <a:r>
              <a:rPr lang="en-US" sz="4400" u="sng" spc="-10" dirty="0" err="1">
                <a:effectLst/>
                <a:latin typeface="Times New Roman" panose="02020603050405020304" pitchFamily="18" charset="0"/>
                <a:ea typeface="Times New Roman" panose="02020603050405020304" pitchFamily="18" charset="0"/>
              </a:rPr>
              <a:t>Github</a:t>
            </a:r>
            <a:r>
              <a:rPr lang="en-US" sz="4400" u="sng" spc="-90" dirty="0">
                <a:effectLst/>
                <a:latin typeface="Times New Roman" panose="02020603050405020304" pitchFamily="18" charset="0"/>
                <a:ea typeface="Times New Roman" panose="02020603050405020304" pitchFamily="18" charset="0"/>
              </a:rPr>
              <a:t> </a:t>
            </a:r>
            <a:r>
              <a:rPr lang="en-US" sz="4400" u="sng" spc="-20" dirty="0">
                <a:effectLst/>
                <a:latin typeface="Times New Roman" panose="02020603050405020304" pitchFamily="18" charset="0"/>
                <a:ea typeface="Times New Roman" panose="02020603050405020304" pitchFamily="18" charset="0"/>
              </a:rPr>
              <a:t>link</a:t>
            </a:r>
            <a:endParaRPr lang="en-IN" sz="4400" u="sng" spc="-1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02134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903294-0024-55A7-348C-5C6BA3A3E6A8}"/>
              </a:ext>
            </a:extLst>
          </p:cNvPr>
          <p:cNvSpPr/>
          <p:nvPr/>
        </p:nvSpPr>
        <p:spPr>
          <a:xfrm>
            <a:off x="3981943" y="2367171"/>
            <a:ext cx="4228113" cy="2123658"/>
          </a:xfrm>
          <a:prstGeom prst="rect">
            <a:avLst/>
          </a:prstGeom>
          <a:noFill/>
        </p:spPr>
        <p:txBody>
          <a:bodyPr wrap="square" lIns="91440" tIns="45720" rIns="91440" bIns="45720">
            <a:spAutoFit/>
          </a:bodyPr>
          <a:lstStyle/>
          <a:p>
            <a:pPr algn="ctr"/>
            <a:r>
              <a:rPr lang="en-US" sz="66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THANK</a:t>
            </a:r>
          </a:p>
          <a:p>
            <a:pPr algn="ctr"/>
            <a:r>
              <a:rPr lang="en-US" sz="66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YOU</a:t>
            </a:r>
            <a:endParaRPr lang="en-US" sz="66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5103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868</Words>
  <Application>Microsoft Office PowerPoint</Application>
  <PresentationFormat>Widescreen</PresentationFormat>
  <Paragraphs>97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PowerPoint Presentation</vt:lpstr>
      <vt:lpstr>Introduction </vt:lpstr>
      <vt:lpstr>PowerPoint Presentation</vt:lpstr>
      <vt:lpstr>PowerPoint Presentation</vt:lpstr>
      <vt:lpstr>Proposed system </vt:lpstr>
      <vt:lpstr>PowerPoint Presentation</vt:lpstr>
      <vt:lpstr>PowerPoint Presentation</vt:lpstr>
      <vt:lpstr>PowerPoint Presentation</vt:lpstr>
      <vt:lpstr>PowerPoint Presentation</vt:lpstr>
      <vt:lpstr>System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Degala Abhi Charan</dc:creator>
  <cp:lastModifiedBy>Degala Abhi Charan</cp:lastModifiedBy>
  <cp:revision>2</cp:revision>
  <dcterms:created xsi:type="dcterms:W3CDTF">2026-03-15T08:43:54Z</dcterms:created>
  <dcterms:modified xsi:type="dcterms:W3CDTF">2026-03-27T11:42:13Z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AB116A7F4408D4684A71B6699EDD60DA_43</vt:lpwstr>
  </property>
  <property fmtid="{D5CDD505-2E9C-101B-9397-08002B2CF9AE}" pid="3" name="KSOProductBuildVer">
    <vt:lpwstr>1033-12.1.23143.23143</vt:lpwstr>
  </property>
</Properties>
</file>