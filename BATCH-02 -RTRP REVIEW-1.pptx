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1" r:id="rId2"/>
    <p:sldId id="271" r:id="rId3"/>
    <p:sldId id="264" r:id="rId4"/>
    <p:sldId id="263" r:id="rId5"/>
    <p:sldId id="291" r:id="rId6"/>
    <p:sldId id="292" r:id="rId7"/>
    <p:sldId id="260" r:id="rId8"/>
    <p:sldId id="293" r:id="rId9"/>
    <p:sldId id="282" r:id="rId10"/>
    <p:sldId id="284" r:id="rId11"/>
    <p:sldId id="285" r:id="rId12"/>
    <p:sldId id="286" r:id="rId13"/>
    <p:sldId id="258" r:id="rId14"/>
    <p:sldId id="288" r:id="rId15"/>
    <p:sldId id="290" r:id="rId16"/>
    <p:sldId id="289" r:id="rId17"/>
    <p:sldId id="268" r:id="rId18"/>
    <p:sldId id="270" r:id="rId19"/>
    <p:sldId id="273" r:id="rId20"/>
    <p:sldId id="29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showGuides="1">
      <p:cViewPr varScale="1">
        <p:scale>
          <a:sx n="82" d="100"/>
          <a:sy n="82" d="100"/>
        </p:scale>
        <p:origin x="67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3/15/2026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MR Group Of Institutions (@cmrinstitutions) • Instagram ...">
            <a:extLst>
              <a:ext uri="{FF2B5EF4-FFF2-40B4-BE49-F238E27FC236}">
                <a16:creationId xmlns:a16="http://schemas.microsoft.com/office/drawing/2014/main" id="{ADAFFC89-53A1-0278-0D74-20B9E94BC7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2510" y="158619"/>
            <a:ext cx="2812646" cy="204260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459E27C-B8DB-810D-50DF-B53E4EBC6D5B}"/>
              </a:ext>
            </a:extLst>
          </p:cNvPr>
          <p:cNvSpPr txBox="1"/>
          <p:nvPr/>
        </p:nvSpPr>
        <p:spPr>
          <a:xfrm>
            <a:off x="1285292" y="1831892"/>
            <a:ext cx="7700088" cy="769441"/>
          </a:xfrm>
          <a:prstGeom prst="rect">
            <a:avLst/>
          </a:prstGeom>
          <a:noFill/>
        </p:spPr>
        <p:txBody>
          <a:bodyPr wrap="square">
            <a:spAutoFit/>
          </a:bodyPr>
          <a:lstStyle/>
          <a:p>
            <a:r>
              <a:rPr lang="en-US" sz="4400" dirty="0"/>
              <a:t>REAL TIME RESEARCH PROJECT</a:t>
            </a:r>
            <a:endParaRPr lang="en-IN" sz="4400" dirty="0"/>
          </a:p>
        </p:txBody>
      </p:sp>
      <p:sp>
        <p:nvSpPr>
          <p:cNvPr id="6" name="TextBox 5">
            <a:extLst>
              <a:ext uri="{FF2B5EF4-FFF2-40B4-BE49-F238E27FC236}">
                <a16:creationId xmlns:a16="http://schemas.microsoft.com/office/drawing/2014/main" id="{E2387CDE-E20D-A2AA-B88F-CF901B8F6F58}"/>
              </a:ext>
            </a:extLst>
          </p:cNvPr>
          <p:cNvSpPr txBox="1"/>
          <p:nvPr/>
        </p:nvSpPr>
        <p:spPr>
          <a:xfrm>
            <a:off x="874745" y="3429000"/>
            <a:ext cx="6097554" cy="1077218"/>
          </a:xfrm>
          <a:prstGeom prst="rect">
            <a:avLst/>
          </a:prstGeom>
          <a:noFill/>
        </p:spPr>
        <p:txBody>
          <a:bodyPr wrap="square">
            <a:spAutoFit/>
          </a:bodyPr>
          <a:lstStyle/>
          <a:p>
            <a:r>
              <a:rPr lang="en-US" sz="3200" dirty="0">
                <a:solidFill>
                  <a:srgbClr val="FF0000"/>
                </a:solidFill>
              </a:rPr>
              <a:t>THE HAPTIC INTERFACE SYSTEM FOR THE DISABLED INDIVIDUALS</a:t>
            </a:r>
            <a:endParaRPr lang="en-IN" sz="3200" dirty="0">
              <a:solidFill>
                <a:srgbClr val="FF0000"/>
              </a:solidFill>
            </a:endParaRPr>
          </a:p>
        </p:txBody>
      </p:sp>
      <p:sp>
        <p:nvSpPr>
          <p:cNvPr id="8" name="TextBox 7">
            <a:extLst>
              <a:ext uri="{FF2B5EF4-FFF2-40B4-BE49-F238E27FC236}">
                <a16:creationId xmlns:a16="http://schemas.microsoft.com/office/drawing/2014/main" id="{89F2AD0F-9D10-C8C9-2006-51682375EBC5}"/>
              </a:ext>
            </a:extLst>
          </p:cNvPr>
          <p:cNvSpPr txBox="1"/>
          <p:nvPr/>
        </p:nvSpPr>
        <p:spPr>
          <a:xfrm>
            <a:off x="5987921" y="4581557"/>
            <a:ext cx="6097554" cy="936154"/>
          </a:xfrm>
          <a:prstGeom prst="rect">
            <a:avLst/>
          </a:prstGeom>
          <a:noFill/>
        </p:spPr>
        <p:txBody>
          <a:bodyPr wrap="square">
            <a:spAutoFit/>
          </a:bodyPr>
          <a:lstStyle/>
          <a:p>
            <a:pPr marL="472440">
              <a:spcBef>
                <a:spcPts val="30"/>
              </a:spcBef>
              <a:buNone/>
              <a:tabLst>
                <a:tab pos="1789430" algn="l"/>
              </a:tabLst>
            </a:pPr>
            <a:r>
              <a:rPr lang="en-US" sz="1800" dirty="0">
                <a:effectLst/>
                <a:latin typeface="Times New Roman" panose="02020603050405020304" pitchFamily="18" charset="0"/>
                <a:ea typeface="Times New Roman" panose="02020603050405020304" pitchFamily="18" charset="0"/>
              </a:rPr>
              <a:t>D.RAMU	                </a:t>
            </a:r>
            <a:r>
              <a:rPr lang="en-US" sz="1800" spc="-10" dirty="0">
                <a:effectLst/>
                <a:latin typeface="Times New Roman" panose="02020603050405020304" pitchFamily="18" charset="0"/>
                <a:ea typeface="Times New Roman" panose="02020603050405020304" pitchFamily="18" charset="0"/>
              </a:rPr>
              <a:t>247R1A0579</a:t>
            </a:r>
            <a:endParaRPr lang="en-IN" sz="1800" dirty="0">
              <a:effectLst/>
              <a:latin typeface="Times New Roman" panose="02020603050405020304" pitchFamily="18" charset="0"/>
              <a:ea typeface="Times New Roman" panose="02020603050405020304" pitchFamily="18" charset="0"/>
            </a:endParaRPr>
          </a:p>
          <a:p>
            <a:pPr marL="472440">
              <a:spcBef>
                <a:spcPts val="55"/>
              </a:spcBef>
              <a:buNone/>
              <a:tabLst>
                <a:tab pos="1789430" algn="l"/>
              </a:tabLst>
            </a:pPr>
            <a:r>
              <a:rPr lang="en-US" sz="1800" dirty="0">
                <a:effectLst/>
                <a:latin typeface="Times New Roman" panose="02020603050405020304" pitchFamily="18" charset="0"/>
                <a:ea typeface="Times New Roman" panose="02020603050405020304" pitchFamily="18" charset="0"/>
              </a:rPr>
              <a:t>MD AB</a:t>
            </a:r>
            <a:r>
              <a:rPr lang="en-US" dirty="0">
                <a:latin typeface="Times New Roman" panose="02020603050405020304" pitchFamily="18" charset="0"/>
                <a:ea typeface="Times New Roman" panose="02020603050405020304" pitchFamily="18" charset="0"/>
              </a:rPr>
              <a:t>UBAKAR</a:t>
            </a:r>
            <a:r>
              <a:rPr lang="en-US" sz="1800"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247R1A05A6</a:t>
            </a:r>
            <a:endParaRPr lang="en-IN" sz="1800" dirty="0">
              <a:effectLst/>
              <a:latin typeface="Times New Roman" panose="02020603050405020304" pitchFamily="18" charset="0"/>
              <a:ea typeface="Times New Roman" panose="02020603050405020304" pitchFamily="18" charset="0"/>
            </a:endParaRPr>
          </a:p>
          <a:p>
            <a:pPr>
              <a:spcBef>
                <a:spcPts val="30"/>
              </a:spcBef>
              <a:buNone/>
              <a:tabLst>
                <a:tab pos="1789430" algn="l"/>
              </a:tabLst>
            </a:pPr>
            <a:r>
              <a:rPr lang="en-US" sz="1800" dirty="0">
                <a:effectLst/>
                <a:latin typeface="Times New Roman" panose="02020603050405020304" pitchFamily="18" charset="0"/>
                <a:ea typeface="Times New Roman" panose="02020603050405020304" pitchFamily="18" charset="0"/>
              </a:rPr>
              <a:t>        G.SURYAPRAKASH	</a:t>
            </a:r>
            <a:r>
              <a:rPr lang="en-US" sz="1800" spc="-10" dirty="0">
                <a:effectLst/>
                <a:latin typeface="Times New Roman" panose="02020603050405020304" pitchFamily="18" charset="0"/>
                <a:ea typeface="Times New Roman" panose="02020603050405020304" pitchFamily="18" charset="0"/>
              </a:rPr>
              <a:t>247R1A0585</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66316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Contents</a:t>
            </a:r>
            <a:r>
              <a:rPr lang="en-US" b="1" dirty="0"/>
              <a:t>:</a:t>
            </a:r>
          </a:p>
        </p:txBody>
      </p:sp>
      <p:sp>
        <p:nvSpPr>
          <p:cNvPr id="3" name="Content Placeholder 2"/>
          <p:cNvSpPr>
            <a:spLocks noGrp="1"/>
          </p:cNvSpPr>
          <p:nvPr>
            <p:ph idx="1"/>
          </p:nvPr>
        </p:nvSpPr>
        <p:spPr>
          <a:xfrm>
            <a:off x="838200" y="1445260"/>
            <a:ext cx="10515600" cy="4351338"/>
          </a:xfrm>
        </p:spPr>
        <p:txBody>
          <a:bodyPr>
            <a:normAutofit fontScale="92500" lnSpcReduction="20000"/>
          </a:bodyPr>
          <a:lstStyle/>
          <a:p>
            <a:pPr>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Abstract </a:t>
            </a:r>
          </a:p>
          <a:p>
            <a:pPr>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Introduction </a:t>
            </a:r>
          </a:p>
          <a:p>
            <a:pPr>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Existing system and Limitations of existing system </a:t>
            </a:r>
          </a:p>
          <a:p>
            <a:pPr>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Proposed system and Advantages of proposed system </a:t>
            </a:r>
          </a:p>
          <a:p>
            <a:pPr>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Scope of work </a:t>
            </a:r>
          </a:p>
          <a:p>
            <a:pPr>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System architecture</a:t>
            </a:r>
          </a:p>
          <a:p>
            <a:pPr>
              <a:buFont typeface="Wingdings" panose="05000000000000000000" charset="0"/>
              <a:buChar char="v"/>
            </a:pPr>
            <a:r>
              <a:rPr lang="en-US" dirty="0">
                <a:latin typeface="Times New Roman" panose="02020603050405020304" pitchFamily="18" charset="0"/>
                <a:cs typeface="Times New Roman" panose="02020603050405020304" pitchFamily="18" charset="0"/>
              </a:rPr>
              <a:t>Novelty</a:t>
            </a:r>
            <a:endParaRPr lang="en-US" altLang="en-US" dirty="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Literature survey</a:t>
            </a:r>
          </a:p>
          <a:p>
            <a:pPr>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work flow diagrams</a:t>
            </a:r>
          </a:p>
          <a:p>
            <a:pPr>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References</a:t>
            </a:r>
          </a:p>
          <a:p>
            <a:pPr>
              <a:buFont typeface="Wingdings" panose="05000000000000000000" charset="0"/>
              <a:buChar char="v"/>
            </a:pP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u="sng" dirty="0">
                <a:latin typeface="Times New Roman" panose="02020603050405020304" pitchFamily="18" charset="0"/>
                <a:cs typeface="Times New Roman" panose="02020603050405020304" pitchFamily="18" charset="0"/>
                <a:sym typeface="+mn-ea"/>
              </a:rPr>
              <a:t>Abstract</a:t>
            </a:r>
            <a:r>
              <a:rPr lang="en-US" altLang="en-US" b="1" u="sng" dirty="0">
                <a:latin typeface="Times New Roman" panose="02020603050405020304" pitchFamily="18" charset="0"/>
                <a:cs typeface="Times New Roman" panose="02020603050405020304" pitchFamily="18" charset="0"/>
                <a:sym typeface="+mn-ea"/>
              </a:rPr>
              <a:t> </a:t>
            </a:r>
            <a:endParaRPr lang="en-US"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64226"/>
            <a:ext cx="10515600" cy="4351338"/>
          </a:xfrm>
        </p:spPr>
        <p:txBody>
          <a:bodyPr>
            <a:normAutofit/>
          </a:bodyPr>
          <a:lstStyle/>
          <a:p>
            <a:r>
              <a:rPr lang="en-US" altLang="en-US" sz="2600" dirty="0">
                <a:latin typeface="Times New Roman" panose="02020603050405020304" pitchFamily="18" charset="0"/>
                <a:cs typeface="Times New Roman" panose="02020603050405020304" pitchFamily="18" charset="0"/>
              </a:rPr>
              <a:t>Haptic interface systems enable communication through touch-based feedback.</a:t>
            </a:r>
          </a:p>
          <a:p>
            <a:r>
              <a:rPr lang="en-US" altLang="en-US" sz="2600" dirty="0">
                <a:latin typeface="Times New Roman" panose="02020603050405020304" pitchFamily="18" charset="0"/>
                <a:cs typeface="Times New Roman" panose="02020603050405020304" pitchFamily="18" charset="0"/>
              </a:rPr>
              <a:t>These systems help visually impaired, hearing impaired, and physically disabled individuals interact with digital environments.</a:t>
            </a:r>
          </a:p>
          <a:p>
            <a:r>
              <a:rPr lang="en-US" altLang="en-US" sz="2600" dirty="0">
                <a:latin typeface="Times New Roman" panose="02020603050405020304" pitchFamily="18" charset="0"/>
                <a:cs typeface="Times New Roman" panose="02020603050405020304" pitchFamily="18" charset="0"/>
              </a:rPr>
              <a:t>The proposed system uses sensors, actuators, and microcontrollers to generate tactile signals.</a:t>
            </a:r>
          </a:p>
          <a:p>
            <a:r>
              <a:rPr lang="en-US" altLang="en-US" sz="2600" dirty="0">
                <a:latin typeface="Times New Roman" panose="02020603050405020304" pitchFamily="18" charset="0"/>
                <a:cs typeface="Times New Roman" panose="02020603050405020304" pitchFamily="18" charset="0"/>
              </a:rPr>
              <a:t>The aim is to improve accessibility, independence, and human–computer interaction.</a:t>
            </a:r>
          </a:p>
          <a:p>
            <a:r>
              <a:rPr lang="en-US" altLang="en-US" sz="2600" dirty="0">
                <a:latin typeface="Times New Roman" panose="02020603050405020304" pitchFamily="18" charset="0"/>
                <a:cs typeface="Times New Roman" panose="02020603050405020304" pitchFamily="18" charset="0"/>
              </a:rPr>
              <a:t>Applications include navigation assistance, communication devices, and learning tools.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3610" y="123190"/>
            <a:ext cx="10515600" cy="1325563"/>
          </a:xfrm>
        </p:spPr>
        <p:txBody>
          <a:bodyPr/>
          <a:lstStyle/>
          <a:p>
            <a:r>
              <a:rPr lang="en-US" altLang="en-US" u="sng" dirty="0">
                <a:latin typeface="Times New Roman" panose="02020603050405020304" pitchFamily="18" charset="0"/>
                <a:cs typeface="Times New Roman" panose="02020603050405020304" pitchFamily="18" charset="0"/>
                <a:sym typeface="+mn-ea"/>
              </a:rPr>
              <a:t>Introduction</a:t>
            </a:r>
            <a:r>
              <a:rPr lang="en-US" altLang="en-US" u="sng" dirty="0">
                <a:sym typeface="+mn-ea"/>
              </a:rPr>
              <a:t> </a:t>
            </a:r>
            <a:endParaRPr lang="en-US" u="sng" dirty="0"/>
          </a:p>
        </p:txBody>
      </p:sp>
      <p:sp>
        <p:nvSpPr>
          <p:cNvPr id="3" name="Content Placeholder 2"/>
          <p:cNvSpPr>
            <a:spLocks noGrp="1"/>
          </p:cNvSpPr>
          <p:nvPr>
            <p:ph idx="1"/>
          </p:nvPr>
        </p:nvSpPr>
        <p:spPr>
          <a:xfrm>
            <a:off x="943610" y="1448753"/>
            <a:ext cx="10515600" cy="4351338"/>
          </a:xfrm>
        </p:spPr>
        <p:txBody>
          <a:bodyPr>
            <a:noAutofit/>
          </a:bodyPr>
          <a:lstStyle/>
          <a:p>
            <a:pPr algn="just"/>
            <a:r>
              <a:rPr lang="en-US" altLang="en-US" sz="2600" dirty="0">
                <a:latin typeface="Times New Roman" panose="02020603050405020304" pitchFamily="18" charset="0"/>
                <a:cs typeface="Times New Roman" panose="02020603050405020304" pitchFamily="18" charset="0"/>
              </a:rPr>
              <a:t>Disabled individuals face challenges when interacting with traditional computer systems.</a:t>
            </a:r>
          </a:p>
          <a:p>
            <a:pPr algn="just"/>
            <a:r>
              <a:rPr lang="en-US" altLang="en-US" sz="2600" dirty="0">
                <a:latin typeface="Times New Roman" panose="02020603050405020304" pitchFamily="18" charset="0"/>
                <a:cs typeface="Times New Roman" panose="02020603050405020304" pitchFamily="18" charset="0"/>
              </a:rPr>
              <a:t>Conventional interfaces depend heavily on vision and hearing.</a:t>
            </a:r>
          </a:p>
          <a:p>
            <a:pPr algn="just"/>
            <a:r>
              <a:rPr lang="en-US" altLang="en-US" sz="2600" dirty="0">
                <a:latin typeface="Times New Roman" panose="02020603050405020304" pitchFamily="18" charset="0"/>
                <a:cs typeface="Times New Roman" panose="02020603050405020304" pitchFamily="18" charset="0"/>
              </a:rPr>
              <a:t>Haptic technology uses touch sensations to convey information.</a:t>
            </a:r>
          </a:p>
          <a:p>
            <a:pPr algn="just"/>
            <a:r>
              <a:rPr lang="en-US" altLang="en-US" sz="2600" dirty="0">
                <a:latin typeface="Times New Roman" panose="02020603050405020304" pitchFamily="18" charset="0"/>
                <a:cs typeface="Times New Roman" panose="02020603050405020304" pitchFamily="18" charset="0"/>
              </a:rPr>
              <a:t>It converts digital signals into vibrations, forces, or motions.</a:t>
            </a:r>
          </a:p>
          <a:p>
            <a:pPr algn="just"/>
            <a:r>
              <a:rPr lang="en-US" altLang="en-US" sz="2600" dirty="0">
                <a:latin typeface="Times New Roman" panose="02020603050405020304" pitchFamily="18" charset="0"/>
                <a:cs typeface="Times New Roman" panose="02020603050405020304" pitchFamily="18" charset="0"/>
              </a:rPr>
              <a:t>This technology provides inclusive accessibility solutions</a:t>
            </a:r>
            <a:r>
              <a:rPr lang="en-US" altLang="en-US" sz="20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29AA3C-6905-9FBC-3615-1D623ADCEE02}"/>
              </a:ext>
            </a:extLst>
          </p:cNvPr>
          <p:cNvSpPr txBox="1"/>
          <p:nvPr/>
        </p:nvSpPr>
        <p:spPr>
          <a:xfrm>
            <a:off x="837424" y="233267"/>
            <a:ext cx="9566210" cy="6063198"/>
          </a:xfrm>
          <a:prstGeom prst="rect">
            <a:avLst/>
          </a:prstGeom>
          <a:noFill/>
        </p:spPr>
        <p:txBody>
          <a:bodyPr wrap="square">
            <a:spAutoFit/>
          </a:bodyPr>
          <a:lstStyle/>
          <a:p>
            <a:pPr>
              <a:buNone/>
            </a:pPr>
            <a:r>
              <a:rPr lang="en-US" sz="4000" u="sng" dirty="0"/>
              <a:t>Existing Systems</a:t>
            </a:r>
          </a:p>
          <a:p>
            <a:pPr>
              <a:buNone/>
            </a:pPr>
            <a:endParaRPr lang="en-US" sz="3600" u="sng" dirty="0"/>
          </a:p>
          <a:p>
            <a:pPr>
              <a:buFont typeface="+mj-lt"/>
              <a:buAutoNum type="arabicPeriod"/>
            </a:pPr>
            <a:r>
              <a:rPr lang="en-US" sz="2600" b="1" dirty="0">
                <a:latin typeface="Times New Roman" panose="02020603050405020304" pitchFamily="18" charset="0"/>
                <a:cs typeface="Times New Roman" panose="02020603050405020304" pitchFamily="18" charset="0"/>
              </a:rPr>
              <a:t>White Cane:</a:t>
            </a:r>
            <a:r>
              <a:rPr lang="en-US" sz="2600" dirty="0">
                <a:latin typeface="Times New Roman" panose="02020603050405020304" pitchFamily="18" charset="0"/>
                <a:cs typeface="Times New Roman" panose="02020603050405020304" pitchFamily="18" charset="0"/>
              </a:rPr>
              <a:t> A traditional mobility aid used by visually impaired individuals to detect obstacles through physical contact with the ground.</a:t>
            </a:r>
          </a:p>
          <a:p>
            <a:pPr>
              <a:buFont typeface="+mj-lt"/>
              <a:buAutoNum type="arabicPeriod"/>
            </a:pPr>
            <a:r>
              <a:rPr lang="en-US" sz="2600" b="1" dirty="0">
                <a:latin typeface="Times New Roman" panose="02020603050405020304" pitchFamily="18" charset="0"/>
                <a:cs typeface="Times New Roman" panose="02020603050405020304" pitchFamily="18" charset="0"/>
              </a:rPr>
              <a:t>Guide Dogs:</a:t>
            </a:r>
            <a:r>
              <a:rPr lang="en-US" sz="2600" dirty="0">
                <a:latin typeface="Times New Roman" panose="02020603050405020304" pitchFamily="18" charset="0"/>
                <a:cs typeface="Times New Roman" panose="02020603050405020304" pitchFamily="18" charset="0"/>
              </a:rPr>
              <a:t> Specially trained dogs that assist visually impaired people in navigating obstacles and moving safely.</a:t>
            </a:r>
          </a:p>
          <a:p>
            <a:pPr>
              <a:buFont typeface="+mj-lt"/>
              <a:buAutoNum type="arabicPeriod"/>
            </a:pPr>
            <a:r>
              <a:rPr lang="en-US" sz="2600" b="1" dirty="0">
                <a:latin typeface="Times New Roman" panose="02020603050405020304" pitchFamily="18" charset="0"/>
                <a:cs typeface="Times New Roman" panose="02020603050405020304" pitchFamily="18" charset="0"/>
              </a:rPr>
              <a:t>Electronic Obstacle Detection Devices:</a:t>
            </a:r>
            <a:r>
              <a:rPr lang="en-US" sz="2600" dirty="0">
                <a:latin typeface="Times New Roman" panose="02020603050405020304" pitchFamily="18" charset="0"/>
                <a:cs typeface="Times New Roman" panose="02020603050405020304" pitchFamily="18" charset="0"/>
              </a:rPr>
              <a:t> Some devices use sensors to detect obstacles and provide alerts through sound or vibration.</a:t>
            </a:r>
          </a:p>
          <a:p>
            <a:pPr>
              <a:buFont typeface="+mj-lt"/>
              <a:buAutoNum type="arabicPeriod"/>
            </a:pPr>
            <a:r>
              <a:rPr lang="en-US" sz="2600" b="1" dirty="0">
                <a:latin typeface="Times New Roman" panose="02020603050405020304" pitchFamily="18" charset="0"/>
                <a:cs typeface="Times New Roman" panose="02020603050405020304" pitchFamily="18" charset="0"/>
              </a:rPr>
              <a:t>Audio-Based Navigation Systems:</a:t>
            </a:r>
            <a:r>
              <a:rPr lang="en-US" sz="2600" dirty="0">
                <a:latin typeface="Times New Roman" panose="02020603050405020304" pitchFamily="18" charset="0"/>
                <a:cs typeface="Times New Roman" panose="02020603050405020304" pitchFamily="18" charset="0"/>
              </a:rPr>
              <a:t> Certain assistive technologies use voice or audio signals to guide users during movement.</a:t>
            </a:r>
          </a:p>
          <a:p>
            <a:pPr>
              <a:buFont typeface="+mj-lt"/>
              <a:buAutoNum type="arabicPeriod"/>
            </a:pPr>
            <a:r>
              <a:rPr lang="en-US" sz="2600" b="1" dirty="0">
                <a:latin typeface="Times New Roman" panose="02020603050405020304" pitchFamily="18" charset="0"/>
                <a:cs typeface="Times New Roman" panose="02020603050405020304" pitchFamily="18" charset="0"/>
              </a:rPr>
              <a:t>Smart Assistive Devices:</a:t>
            </a:r>
            <a:r>
              <a:rPr lang="en-US" sz="2600" dirty="0">
                <a:latin typeface="Times New Roman" panose="02020603050405020304" pitchFamily="18" charset="0"/>
                <a:cs typeface="Times New Roman" panose="02020603050405020304" pitchFamily="18" charset="0"/>
              </a:rPr>
              <a:t> Advanced systems use sensors and microcontrollers for obstacle detection, but they may be expensive or complex to use.</a:t>
            </a:r>
          </a:p>
        </p:txBody>
      </p:sp>
    </p:spTree>
    <p:extLst>
      <p:ext uri="{BB962C8B-B14F-4D97-AF65-F5344CB8AC3E}">
        <p14:creationId xmlns:p14="http://schemas.microsoft.com/office/powerpoint/2010/main" val="1682323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87AC7F-FA61-A5D9-394A-11917D440503}"/>
              </a:ext>
            </a:extLst>
          </p:cNvPr>
          <p:cNvSpPr txBox="1"/>
          <p:nvPr/>
        </p:nvSpPr>
        <p:spPr>
          <a:xfrm>
            <a:off x="445536" y="363915"/>
            <a:ext cx="10863166" cy="5847755"/>
          </a:xfrm>
          <a:prstGeom prst="rect">
            <a:avLst/>
          </a:prstGeom>
          <a:noFill/>
        </p:spPr>
        <p:txBody>
          <a:bodyPr wrap="square">
            <a:spAutoFit/>
          </a:bodyPr>
          <a:lstStyle/>
          <a:p>
            <a:pPr>
              <a:buNone/>
            </a:pPr>
            <a:r>
              <a:rPr lang="en-US" sz="3600" u="sng" dirty="0">
                <a:latin typeface="Times New Roman" panose="02020603050405020304" pitchFamily="18" charset="0"/>
                <a:cs typeface="Times New Roman" panose="02020603050405020304" pitchFamily="18" charset="0"/>
              </a:rPr>
              <a:t>Limitations of Existing Systems</a:t>
            </a:r>
          </a:p>
          <a:p>
            <a:pPr>
              <a:buNone/>
            </a:pPr>
            <a:endParaRPr lang="en-US" sz="2600" b="1" u="sng" dirty="0">
              <a:latin typeface="Times New Roman" panose="02020603050405020304" pitchFamily="18" charset="0"/>
              <a:cs typeface="Times New Roman" panose="02020603050405020304" pitchFamily="18" charset="0"/>
            </a:endParaRPr>
          </a:p>
          <a:p>
            <a:pPr>
              <a:buFont typeface="+mj-lt"/>
              <a:buAutoNum type="arabicPeriod"/>
            </a:pPr>
            <a:r>
              <a:rPr lang="en-US" sz="2600" b="1" dirty="0">
                <a:latin typeface="Times New Roman" panose="02020603050405020304" pitchFamily="18" charset="0"/>
                <a:cs typeface="Times New Roman" panose="02020603050405020304" pitchFamily="18" charset="0"/>
              </a:rPr>
              <a:t>Limited Obstacle Detection:</a:t>
            </a:r>
            <a:r>
              <a:rPr lang="en-US" sz="2600" dirty="0">
                <a:latin typeface="Times New Roman" panose="02020603050405020304" pitchFamily="18" charset="0"/>
                <a:cs typeface="Times New Roman" panose="02020603050405020304" pitchFamily="18" charset="0"/>
              </a:rPr>
              <a:t> Traditional tools like white canes can only detect obstacles that are within physical reach and may not identify obstacles at a distance.</a:t>
            </a:r>
          </a:p>
          <a:p>
            <a:pPr>
              <a:buFont typeface="+mj-lt"/>
              <a:buAutoNum type="arabicPeriod"/>
            </a:pPr>
            <a:r>
              <a:rPr lang="en-US" sz="2600" b="1" dirty="0">
                <a:latin typeface="Times New Roman" panose="02020603050405020304" pitchFamily="18" charset="0"/>
                <a:cs typeface="Times New Roman" panose="02020603050405020304" pitchFamily="18" charset="0"/>
              </a:rPr>
              <a:t>Dependence on Audio Alerts:</a:t>
            </a:r>
            <a:r>
              <a:rPr lang="en-US" sz="2600" dirty="0">
                <a:latin typeface="Times New Roman" panose="02020603050405020304" pitchFamily="18" charset="0"/>
                <a:cs typeface="Times New Roman" panose="02020603050405020304" pitchFamily="18" charset="0"/>
              </a:rPr>
              <a:t> Many electronic systems rely mainly on sound alerts, which may not be effective in noisy environments.</a:t>
            </a:r>
          </a:p>
          <a:p>
            <a:pPr>
              <a:buFont typeface="+mj-lt"/>
              <a:buAutoNum type="arabicPeriod"/>
            </a:pPr>
            <a:r>
              <a:rPr lang="en-US" sz="2600" b="1" dirty="0">
                <a:latin typeface="Times New Roman" panose="02020603050405020304" pitchFamily="18" charset="0"/>
                <a:cs typeface="Times New Roman" panose="02020603050405020304" pitchFamily="18" charset="0"/>
              </a:rPr>
              <a:t>High Cost and Maintenance:</a:t>
            </a:r>
            <a:r>
              <a:rPr lang="en-US" sz="2600" dirty="0">
                <a:latin typeface="Times New Roman" panose="02020603050405020304" pitchFamily="18" charset="0"/>
                <a:cs typeface="Times New Roman" panose="02020603050405020304" pitchFamily="18" charset="0"/>
              </a:rPr>
              <a:t> Assistive technologies such as guide dogs and advanced smart devices require high cost, training, and maintenance.</a:t>
            </a:r>
          </a:p>
          <a:p>
            <a:pPr>
              <a:buFont typeface="+mj-lt"/>
              <a:buAutoNum type="arabicPeriod"/>
            </a:pPr>
            <a:r>
              <a:rPr lang="en-US" sz="2600" b="1" dirty="0">
                <a:latin typeface="Times New Roman" panose="02020603050405020304" pitchFamily="18" charset="0"/>
                <a:cs typeface="Times New Roman" panose="02020603050405020304" pitchFamily="18" charset="0"/>
              </a:rPr>
              <a:t>Limited Functionality:</a:t>
            </a:r>
            <a:r>
              <a:rPr lang="en-US" sz="2600" dirty="0">
                <a:latin typeface="Times New Roman" panose="02020603050405020304" pitchFamily="18" charset="0"/>
                <a:cs typeface="Times New Roman" panose="02020603050405020304" pitchFamily="18" charset="0"/>
              </a:rPr>
              <a:t> Some existing systems only detect obstacles but do not provide additional features such as location tracking or wireless communication.</a:t>
            </a:r>
          </a:p>
          <a:p>
            <a:pPr>
              <a:buFont typeface="+mj-lt"/>
              <a:buAutoNum type="arabicPeriod"/>
            </a:pPr>
            <a:r>
              <a:rPr lang="en-US" sz="2600" b="1" dirty="0">
                <a:latin typeface="Times New Roman" panose="02020603050405020304" pitchFamily="18" charset="0"/>
                <a:cs typeface="Times New Roman" panose="02020603050405020304" pitchFamily="18" charset="0"/>
              </a:rPr>
              <a:t>User Dependency:</a:t>
            </a:r>
            <a:r>
              <a:rPr lang="en-US" sz="2600" dirty="0">
                <a:latin typeface="Times New Roman" panose="02020603050405020304" pitchFamily="18" charset="0"/>
                <a:cs typeface="Times New Roman" panose="02020603050405020304" pitchFamily="18" charset="0"/>
              </a:rPr>
              <a:t> Many systems require continuous user effort or training, which may reduce convenience for some disabled individuals.</a:t>
            </a:r>
          </a:p>
        </p:txBody>
      </p:sp>
    </p:spTree>
    <p:extLst>
      <p:ext uri="{BB962C8B-B14F-4D97-AF65-F5344CB8AC3E}">
        <p14:creationId xmlns:p14="http://schemas.microsoft.com/office/powerpoint/2010/main" val="2540837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555" y="70854"/>
            <a:ext cx="10515600" cy="1325563"/>
          </a:xfrm>
        </p:spPr>
        <p:txBody>
          <a:bodyPr>
            <a:normAutofit/>
          </a:bodyPr>
          <a:lstStyle/>
          <a:p>
            <a:r>
              <a:rPr lang="en-US" altLang="en-US" u="sng" dirty="0">
                <a:latin typeface="Times New Roman" panose="02020603050405020304" pitchFamily="18" charset="0"/>
                <a:cs typeface="Times New Roman" panose="02020603050405020304" pitchFamily="18" charset="0"/>
                <a:sym typeface="+mn-ea"/>
              </a:rPr>
              <a:t>Proposed system </a:t>
            </a:r>
            <a:endParaRPr lang="en-US"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3555" y="1513073"/>
            <a:ext cx="9938657" cy="4634285"/>
          </a:xfrm>
        </p:spPr>
        <p:txBody>
          <a:bodyPr>
            <a:noAutofit/>
          </a:bodyPr>
          <a:lstStyle/>
          <a:p>
            <a:pPr marL="0" indent="0">
              <a:buNone/>
            </a:pPr>
            <a:r>
              <a:rPr lang="en-US" altLang="en-US" sz="2400" dirty="0">
                <a:latin typeface="Times New Roman" panose="02020603050405020304" pitchFamily="18" charset="0"/>
                <a:cs typeface="Times New Roman" panose="02020603050405020304" pitchFamily="18" charset="0"/>
              </a:rPr>
              <a:t>The proposed haptic interface system is designed as a wearable device that integrates ultrasonic sensors, IMU sensors, and a microcontroller to provide real-time tactile feedback. </a:t>
            </a:r>
          </a:p>
          <a:p>
            <a:pPr marL="0" indent="0">
              <a:buNone/>
            </a:pPr>
            <a:r>
              <a:rPr lang="en-US" altLang="en-US" sz="2400" dirty="0">
                <a:latin typeface="Times New Roman" panose="02020603050405020304" pitchFamily="18" charset="0"/>
                <a:cs typeface="Times New Roman" panose="02020603050405020304" pitchFamily="18" charset="0"/>
              </a:rPr>
              <a:t>The ultrasonic sensor measures the distance to nearby obstacles, while the IMU tracks hand orientation and movement. The microcontroller processes this data and activates multiple  vibration motors arranged in an array to convey directional and distance-based information.</a:t>
            </a:r>
          </a:p>
          <a:p>
            <a:pPr marL="0" indent="0">
              <a:buNone/>
            </a:pPr>
            <a:r>
              <a:rPr lang="en-US" altLang="en-US" sz="2400" dirty="0">
                <a:latin typeface="Times New Roman" panose="02020603050405020304" pitchFamily="18" charset="0"/>
                <a:cs typeface="Times New Roman" panose="02020603050405020304" pitchFamily="18" charset="0"/>
              </a:rPr>
              <a:t>Bluetooth connectivity enables the system to connect to a smartphone application, allowing users to configure sensitivity levels, vibration patterns, and alert thresholds. The system is designed to be energy-efficient and lightweight, ensuring comfort during prolonged use. The modular architecture allows additional sensors and features to be integrated in the future.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922421-F917-2BF6-3C8E-35C59389CB53}"/>
              </a:ext>
            </a:extLst>
          </p:cNvPr>
          <p:cNvSpPr>
            <a:spLocks noChangeArrowheads="1"/>
          </p:cNvSpPr>
          <p:nvPr/>
        </p:nvSpPr>
        <p:spPr bwMode="auto">
          <a:xfrm>
            <a:off x="615821" y="1737556"/>
            <a:ext cx="1049693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Obstacle Detection: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detects obstacles quickly using ultrasonic sensors and alerts the user immediately.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Wireless Communication: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ESP8266 modules to enable communication between transmitter and receiver units.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Location Tracking: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GPS module helps in tracking the user’s location when required.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Cost and Portable: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is compact, lightweight, and uses affordable components, making it suitable for daily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Haptic Feedback: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vibration alerts through a vibration motor, allowing users to sense obstacles through touch.</a:t>
            </a:r>
          </a:p>
        </p:txBody>
      </p:sp>
      <p:sp>
        <p:nvSpPr>
          <p:cNvPr id="4" name="TextBox 3">
            <a:extLst>
              <a:ext uri="{FF2B5EF4-FFF2-40B4-BE49-F238E27FC236}">
                <a16:creationId xmlns:a16="http://schemas.microsoft.com/office/drawing/2014/main" id="{94175D46-6D3F-C6DD-F730-EDED26A476C2}"/>
              </a:ext>
            </a:extLst>
          </p:cNvPr>
          <p:cNvSpPr txBox="1"/>
          <p:nvPr/>
        </p:nvSpPr>
        <p:spPr>
          <a:xfrm>
            <a:off x="615821" y="626906"/>
            <a:ext cx="7606782" cy="707886"/>
          </a:xfrm>
          <a:prstGeom prst="rect">
            <a:avLst/>
          </a:prstGeom>
          <a:noFill/>
        </p:spPr>
        <p:txBody>
          <a:bodyPr wrap="square">
            <a:spAutoFit/>
          </a:bodyPr>
          <a:lstStyle/>
          <a:p>
            <a:r>
              <a:rPr lang="en-IN" sz="4000" u="sng" dirty="0">
                <a:latin typeface="Times New Roman" panose="02020603050405020304" pitchFamily="18" charset="0"/>
                <a:cs typeface="Times New Roman" panose="02020603050405020304" pitchFamily="18" charset="0"/>
              </a:rPr>
              <a:t>Advantages of Proposed System</a:t>
            </a:r>
          </a:p>
        </p:txBody>
      </p:sp>
    </p:spTree>
    <p:extLst>
      <p:ext uri="{BB962C8B-B14F-4D97-AF65-F5344CB8AC3E}">
        <p14:creationId xmlns:p14="http://schemas.microsoft.com/office/powerpoint/2010/main" val="3002722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75B30-97FF-903E-45B3-FFF9309BD9BC}"/>
              </a:ext>
            </a:extLst>
          </p:cNvPr>
          <p:cNvSpPr>
            <a:spLocks noGrp="1"/>
          </p:cNvSpPr>
          <p:nvPr>
            <p:ph type="title"/>
          </p:nvPr>
        </p:nvSpPr>
        <p:spPr>
          <a:xfrm>
            <a:off x="325016" y="113198"/>
            <a:ext cx="10515600" cy="1325563"/>
          </a:xfrm>
        </p:spPr>
        <p:txBody>
          <a:bodyPr/>
          <a:lstStyle/>
          <a:p>
            <a:r>
              <a:rPr lang="en-US" sz="4000" u="sng" dirty="0"/>
              <a:t>DISADVANTAGES</a:t>
            </a:r>
            <a:endParaRPr lang="en-IN" u="sng" dirty="0"/>
          </a:p>
        </p:txBody>
      </p:sp>
      <p:sp>
        <p:nvSpPr>
          <p:cNvPr id="4" name="Rectangle 1">
            <a:extLst>
              <a:ext uri="{FF2B5EF4-FFF2-40B4-BE49-F238E27FC236}">
                <a16:creationId xmlns:a16="http://schemas.microsoft.com/office/drawing/2014/main" id="{7B83E5A4-5E35-1F06-68E1-F0C9ED2F8766}"/>
              </a:ext>
            </a:extLst>
          </p:cNvPr>
          <p:cNvSpPr>
            <a:spLocks noGrp="1" noChangeArrowheads="1"/>
          </p:cNvSpPr>
          <p:nvPr>
            <p:ph idx="1"/>
          </p:nvPr>
        </p:nvSpPr>
        <p:spPr bwMode="auto">
          <a:xfrm>
            <a:off x="325016" y="1364188"/>
            <a:ext cx="9938657"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Sensor Accuracy:</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ultrasonic sensor may produce inaccurate readings when objects have irregular surfaces or are positioned at sharp angles, which can affect obstacle detection reliability.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Detection Range:</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can detect obstacles only within a specific distance range, which may not provide sufficient early warning in certain situations.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Dependence on Battery Power:</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Since the device operates using electronic components and wireless communication modules, continuous usage may lead to faster battery consumption.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Interference:</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External factors such as temperature changes, noise, or obstacles with soft surfaces may affect sensor performance.</a:t>
            </a:r>
          </a:p>
        </p:txBody>
      </p:sp>
    </p:spTree>
    <p:extLst>
      <p:ext uri="{BB962C8B-B14F-4D97-AF65-F5344CB8AC3E}">
        <p14:creationId xmlns:p14="http://schemas.microsoft.com/office/powerpoint/2010/main" val="3002067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2A4514-05D4-ECD0-DA82-FDFAF0DEDE81}"/>
              </a:ext>
            </a:extLst>
          </p:cNvPr>
          <p:cNvSpPr txBox="1"/>
          <p:nvPr/>
        </p:nvSpPr>
        <p:spPr>
          <a:xfrm>
            <a:off x="755779" y="212735"/>
            <a:ext cx="11150082" cy="5509200"/>
          </a:xfrm>
          <a:prstGeom prst="rect">
            <a:avLst/>
          </a:prstGeom>
          <a:noFill/>
        </p:spPr>
        <p:txBody>
          <a:bodyPr wrap="square">
            <a:spAutoFit/>
          </a:bodyPr>
          <a:lstStyle/>
          <a:p>
            <a:pPr>
              <a:buNone/>
            </a:pPr>
            <a:r>
              <a:rPr lang="en-US" sz="3600" u="sng" dirty="0">
                <a:latin typeface="Times New Roman" panose="02020603050405020304" pitchFamily="18" charset="0"/>
                <a:cs typeface="Times New Roman" panose="02020603050405020304" pitchFamily="18" charset="0"/>
              </a:rPr>
              <a:t>Hardware Requirements</a:t>
            </a:r>
          </a:p>
          <a:p>
            <a:pPr>
              <a:buNone/>
            </a:pPr>
            <a:endParaRPr lang="en-US" sz="3600" u="sng"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ESP8266 Microcontroller:</a:t>
            </a:r>
            <a:r>
              <a:rPr lang="en-US" sz="2000" dirty="0">
                <a:latin typeface="Times New Roman" panose="02020603050405020304" pitchFamily="18" charset="0"/>
                <a:cs typeface="Times New Roman" panose="02020603050405020304" pitchFamily="18" charset="0"/>
              </a:rPr>
              <a:t> Used as the main processing unit to control the system and handle wireless communication between transmitter and receiver modules.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Ultrasonic Sensor:</a:t>
            </a:r>
            <a:r>
              <a:rPr lang="en-US" sz="2000" dirty="0">
                <a:latin typeface="Times New Roman" panose="02020603050405020304" pitchFamily="18" charset="0"/>
                <a:cs typeface="Times New Roman" panose="02020603050405020304" pitchFamily="18" charset="0"/>
              </a:rPr>
              <a:t> Used to detect obstacles and measure the distance between the user and nearby objects.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R.P.S Module:</a:t>
            </a:r>
            <a:r>
              <a:rPr lang="en-US" sz="2000" dirty="0">
                <a:latin typeface="Times New Roman" panose="02020603050405020304" pitchFamily="18" charset="0"/>
                <a:cs typeface="Times New Roman" panose="02020603050405020304" pitchFamily="18" charset="0"/>
              </a:rPr>
              <a:t> Helps in identifying the position or reference location of the user.</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GPS Module:</a:t>
            </a:r>
            <a:r>
              <a:rPr lang="en-US" sz="2000" dirty="0">
                <a:latin typeface="Times New Roman" panose="02020603050405020304" pitchFamily="18" charset="0"/>
                <a:cs typeface="Times New Roman" panose="02020603050405020304" pitchFamily="18" charset="0"/>
              </a:rPr>
              <a:t> Provides real-time location information which can be used for tracking and navigation purposes.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Push Button:</a:t>
            </a:r>
            <a:r>
              <a:rPr lang="en-US" sz="2000" dirty="0">
                <a:latin typeface="Times New Roman" panose="02020603050405020304" pitchFamily="18" charset="0"/>
                <a:cs typeface="Times New Roman" panose="02020603050405020304" pitchFamily="18" charset="0"/>
              </a:rPr>
              <a:t> Used for manual input or emergency alert activation.</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Vibration Motor:</a:t>
            </a:r>
            <a:r>
              <a:rPr lang="en-US" sz="2000" dirty="0">
                <a:latin typeface="Times New Roman" panose="02020603050405020304" pitchFamily="18" charset="0"/>
                <a:cs typeface="Times New Roman" panose="02020603050405020304" pitchFamily="18" charset="0"/>
              </a:rPr>
              <a:t> Provides haptic feedback to the user through vibration signals when obstacles are detected.</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Buzzer:</a:t>
            </a:r>
            <a:r>
              <a:rPr lang="en-US" sz="2000" dirty="0">
                <a:latin typeface="Times New Roman" panose="02020603050405020304" pitchFamily="18" charset="0"/>
                <a:cs typeface="Times New Roman" panose="02020603050405020304" pitchFamily="18" charset="0"/>
              </a:rPr>
              <a:t> Generates sound alerts to notify the user about detected obstacles or system warnings.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Power Supply / Battery:</a:t>
            </a:r>
            <a:r>
              <a:rPr lang="en-US" sz="2000" dirty="0">
                <a:latin typeface="Times New Roman" panose="02020603050405020304" pitchFamily="18" charset="0"/>
                <a:cs typeface="Times New Roman" panose="02020603050405020304" pitchFamily="18" charset="0"/>
              </a:rPr>
              <a:t> Supplies electrical power to the entire system for proper functioning.</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Connecting Wires and Breadboard:</a:t>
            </a:r>
            <a:r>
              <a:rPr lang="en-US" sz="2000" dirty="0">
                <a:latin typeface="Times New Roman" panose="02020603050405020304" pitchFamily="18" charset="0"/>
                <a:cs typeface="Times New Roman" panose="02020603050405020304" pitchFamily="18" charset="0"/>
              </a:rPr>
              <a:t> Used to connect various electronic components during circuit implementation.</a:t>
            </a:r>
          </a:p>
        </p:txBody>
      </p:sp>
    </p:spTree>
    <p:extLst>
      <p:ext uri="{BB962C8B-B14F-4D97-AF65-F5344CB8AC3E}">
        <p14:creationId xmlns:p14="http://schemas.microsoft.com/office/powerpoint/2010/main" val="149145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535A1B-498B-E632-C1E2-ACB67FB02415}"/>
              </a:ext>
            </a:extLst>
          </p:cNvPr>
          <p:cNvSpPr txBox="1"/>
          <p:nvPr/>
        </p:nvSpPr>
        <p:spPr>
          <a:xfrm>
            <a:off x="653143" y="838811"/>
            <a:ext cx="10356979" cy="5201424"/>
          </a:xfrm>
          <a:prstGeom prst="rect">
            <a:avLst/>
          </a:prstGeom>
          <a:noFill/>
        </p:spPr>
        <p:txBody>
          <a:bodyPr wrap="square">
            <a:spAutoFit/>
          </a:bodyPr>
          <a:lstStyle/>
          <a:p>
            <a:pPr>
              <a:buNone/>
            </a:pPr>
            <a:r>
              <a:rPr lang="en-US" sz="4000" u="sng" dirty="0">
                <a:latin typeface="Times New Roman" panose="02020603050405020304" pitchFamily="18" charset="0"/>
                <a:cs typeface="Times New Roman" panose="02020603050405020304" pitchFamily="18" charset="0"/>
              </a:rPr>
              <a:t>Software Requirements</a:t>
            </a:r>
          </a:p>
          <a:p>
            <a:pPr>
              <a:buNone/>
            </a:pPr>
            <a:endParaRPr lang="en-US" sz="3200" u="sng"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Arduino IDE:</a:t>
            </a:r>
            <a:r>
              <a:rPr lang="en-US" sz="2600" dirty="0">
                <a:latin typeface="Times New Roman" panose="02020603050405020304" pitchFamily="18" charset="0"/>
                <a:cs typeface="Times New Roman" panose="02020603050405020304" pitchFamily="18" charset="0"/>
              </a:rPr>
              <a:t> Used for writing, compiling, and uploading code to the ESP8266 microcontroller.</a:t>
            </a:r>
          </a:p>
          <a:p>
            <a:pPr>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Embedded C / Arduino Programming Language:</a:t>
            </a:r>
            <a:r>
              <a:rPr lang="en-US" sz="2600" dirty="0">
                <a:latin typeface="Times New Roman" panose="02020603050405020304" pitchFamily="18" charset="0"/>
                <a:cs typeface="Times New Roman" panose="02020603050405020304" pitchFamily="18" charset="0"/>
              </a:rPr>
              <a:t> Used to develop the program that controls sensor readings, data processing, and output alerts.</a:t>
            </a:r>
          </a:p>
          <a:p>
            <a:pPr>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ESP8266 Libraries:</a:t>
            </a:r>
            <a:r>
              <a:rPr lang="en-US" sz="2600" dirty="0">
                <a:latin typeface="Times New Roman" panose="02020603050405020304" pitchFamily="18" charset="0"/>
                <a:cs typeface="Times New Roman" panose="02020603050405020304" pitchFamily="18" charset="0"/>
              </a:rPr>
              <a:t> Required to enable wireless communication and proper functioning of the ESP8266 module.</a:t>
            </a:r>
          </a:p>
          <a:p>
            <a:pPr>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Serial Monitor:</a:t>
            </a:r>
            <a:r>
              <a:rPr lang="en-US" sz="2600" dirty="0">
                <a:latin typeface="Times New Roman" panose="02020603050405020304" pitchFamily="18" charset="0"/>
                <a:cs typeface="Times New Roman" panose="02020603050405020304" pitchFamily="18" charset="0"/>
              </a:rPr>
              <a:t> Used for debugging and monitoring system output during testing.</a:t>
            </a:r>
          </a:p>
          <a:p>
            <a:pPr>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Mobile Application (Optional):</a:t>
            </a:r>
            <a:r>
              <a:rPr lang="en-US" sz="2600" dirty="0">
                <a:latin typeface="Times New Roman" panose="02020603050405020304" pitchFamily="18" charset="0"/>
                <a:cs typeface="Times New Roman" panose="02020603050405020304" pitchFamily="18" charset="0"/>
              </a:rPr>
              <a:t> Used to receive system data and monitor the device remotely.</a:t>
            </a:r>
          </a:p>
        </p:txBody>
      </p:sp>
    </p:spTree>
    <p:extLst>
      <p:ext uri="{BB962C8B-B14F-4D97-AF65-F5344CB8AC3E}">
        <p14:creationId xmlns:p14="http://schemas.microsoft.com/office/powerpoint/2010/main" val="4091722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8FFCEB-3F40-6E85-F219-5E6F3E9542A1}"/>
              </a:ext>
            </a:extLst>
          </p:cNvPr>
          <p:cNvSpPr txBox="1"/>
          <p:nvPr/>
        </p:nvSpPr>
        <p:spPr>
          <a:xfrm>
            <a:off x="958720" y="295860"/>
            <a:ext cx="6097554" cy="769441"/>
          </a:xfrm>
          <a:prstGeom prst="rect">
            <a:avLst/>
          </a:prstGeom>
          <a:noFill/>
        </p:spPr>
        <p:txBody>
          <a:bodyPr wrap="square">
            <a:spAutoFit/>
          </a:bodyPr>
          <a:lstStyle/>
          <a:p>
            <a:r>
              <a:rPr lang="en-US" sz="4400" u="sng" dirty="0">
                <a:latin typeface="Times New Roman" panose="02020603050405020304" pitchFamily="18" charset="0"/>
                <a:cs typeface="Times New Roman" panose="02020603050405020304" pitchFamily="18" charset="0"/>
              </a:rPr>
              <a:t>NOVELTY</a:t>
            </a:r>
            <a:endParaRPr lang="en-IN" sz="4400" u="sng"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2483AF4-5AAF-45B9-790F-AC3F76C79863}"/>
              </a:ext>
            </a:extLst>
          </p:cNvPr>
          <p:cNvSpPr txBox="1"/>
          <p:nvPr/>
        </p:nvSpPr>
        <p:spPr>
          <a:xfrm>
            <a:off x="958720" y="1345220"/>
            <a:ext cx="9957319" cy="4524315"/>
          </a:xfrm>
          <a:prstGeom prst="rect">
            <a:avLst/>
          </a:prstGeom>
          <a:noFill/>
        </p:spPr>
        <p:txBody>
          <a:bodyPr wrap="square">
            <a:spAutoFit/>
          </a:bodyPr>
          <a:lstStyle/>
          <a:p>
            <a:pPr>
              <a:buNone/>
            </a:pPr>
            <a:r>
              <a:rPr lang="en-US" sz="2400" dirty="0">
                <a:latin typeface="Times New Roman" panose="02020603050405020304" pitchFamily="18" charset="0"/>
                <a:cs typeface="Times New Roman" panose="02020603050405020304" pitchFamily="18" charset="0"/>
              </a:rPr>
              <a:t>The novelty of this project lies in the development of a </a:t>
            </a:r>
            <a:r>
              <a:rPr lang="en-US" sz="2400" b="1" dirty="0">
                <a:latin typeface="Times New Roman" panose="02020603050405020304" pitchFamily="18" charset="0"/>
                <a:cs typeface="Times New Roman" panose="02020603050405020304" pitchFamily="18" charset="0"/>
              </a:rPr>
              <a:t>wearable haptic interface system that assists disabled individuals by converting environmental information into vibration-based feedback</a:t>
            </a:r>
            <a:r>
              <a:rPr lang="en-US" sz="2400" dirty="0">
                <a:latin typeface="Times New Roman" panose="02020603050405020304" pitchFamily="18" charset="0"/>
                <a:cs typeface="Times New Roman" panose="02020603050405020304" pitchFamily="18" charset="0"/>
              </a:rPr>
              <a:t>. The system uses sensors to detect obstacles and provides real-time alerts through a vibration motor and buzzer, helping users navigate their surroundings safely without relying completely on visual or audio cues.</a:t>
            </a: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Another unique aspect of the project is the </a:t>
            </a:r>
            <a:r>
              <a:rPr lang="en-US" sz="2400" b="1" dirty="0">
                <a:latin typeface="Times New Roman" panose="02020603050405020304" pitchFamily="18" charset="0"/>
                <a:cs typeface="Times New Roman" panose="02020603050405020304" pitchFamily="18" charset="0"/>
              </a:rPr>
              <a:t>integration of ultrasonic sensors, ESP8266 wireless communication, and GPS technology</a:t>
            </a:r>
            <a:r>
              <a:rPr lang="en-US" sz="2400" dirty="0">
                <a:latin typeface="Times New Roman" panose="02020603050405020304" pitchFamily="18" charset="0"/>
                <a:cs typeface="Times New Roman" panose="02020603050405020304" pitchFamily="18" charset="0"/>
              </a:rPr>
              <a:t> in a low-cost and compact design. This combination improves obstacle detection, enables location tracking, and allows efficient communication between system modules, making the device practical and useful for everyday mobility assistance.</a:t>
            </a:r>
          </a:p>
        </p:txBody>
      </p:sp>
    </p:spTree>
    <p:extLst>
      <p:ext uri="{BB962C8B-B14F-4D97-AF65-F5344CB8AC3E}">
        <p14:creationId xmlns:p14="http://schemas.microsoft.com/office/powerpoint/2010/main" val="2516089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u="sng" dirty="0">
                <a:latin typeface="Times New Roman" panose="02020603050405020304" pitchFamily="18" charset="0"/>
                <a:cs typeface="Times New Roman" panose="02020603050405020304" pitchFamily="18" charset="0"/>
              </a:rPr>
              <a:t>System architecture</a:t>
            </a:r>
          </a:p>
        </p:txBody>
      </p:sp>
      <p:sp>
        <p:nvSpPr>
          <p:cNvPr id="4" name="Content Placeholder 3"/>
          <p:cNvSpPr>
            <a:spLocks noGrp="1"/>
          </p:cNvSpPr>
          <p:nvPr>
            <p:ph idx="1"/>
          </p:nvPr>
        </p:nvSpPr>
        <p:spPr/>
        <p:txBody>
          <a:bodyPr>
            <a:normAutofit lnSpcReduction="10000"/>
          </a:bodyPr>
          <a:lstStyle/>
          <a:p>
            <a:r>
              <a:rPr lang="en-US" altLang="en-US" dirty="0">
                <a:latin typeface="Times New Roman" panose="02020603050405020304" pitchFamily="18" charset="0"/>
                <a:cs typeface="Times New Roman" panose="02020603050405020304" pitchFamily="18" charset="0"/>
              </a:rPr>
              <a:t>Input Sensors</a:t>
            </a:r>
          </a:p>
          <a:p>
            <a:pPr marL="0" indent="0">
              <a:buNone/>
            </a:pPr>
            <a:r>
              <a:rPr lang="en-US" altLang="en-US" dirty="0">
                <a:latin typeface="Times New Roman" panose="02020603050405020304" pitchFamily="18" charset="0"/>
                <a:cs typeface="Times New Roman" panose="02020603050405020304" pitchFamily="18" charset="0"/>
              </a:rPr>
              <a:t>      ↓</a:t>
            </a:r>
          </a:p>
          <a:p>
            <a:r>
              <a:rPr lang="en-US" altLang="en-US" dirty="0">
                <a:latin typeface="Times New Roman" panose="02020603050405020304" pitchFamily="18" charset="0"/>
                <a:cs typeface="Times New Roman" panose="02020603050405020304" pitchFamily="18" charset="0"/>
              </a:rPr>
              <a:t>Microcontroller</a:t>
            </a:r>
          </a:p>
          <a:p>
            <a:pPr marL="0" indent="0">
              <a:buNone/>
            </a:pPr>
            <a:r>
              <a:rPr lang="en-US" altLang="en-US" dirty="0">
                <a:latin typeface="Times New Roman" panose="02020603050405020304" pitchFamily="18" charset="0"/>
                <a:cs typeface="Times New Roman" panose="02020603050405020304" pitchFamily="18" charset="0"/>
              </a:rPr>
              <a:t>      ↓</a:t>
            </a:r>
          </a:p>
          <a:p>
            <a:r>
              <a:rPr lang="en-US" altLang="en-US" dirty="0">
                <a:latin typeface="Times New Roman" panose="02020603050405020304" pitchFamily="18" charset="0"/>
                <a:cs typeface="Times New Roman" panose="02020603050405020304" pitchFamily="18" charset="0"/>
              </a:rPr>
              <a:t>Signal Processing Unit</a:t>
            </a:r>
          </a:p>
          <a:p>
            <a:pPr marL="0" indent="0">
              <a:buNone/>
            </a:pPr>
            <a:r>
              <a:rPr lang="en-US" altLang="en-US" dirty="0">
                <a:latin typeface="Times New Roman" panose="02020603050405020304" pitchFamily="18" charset="0"/>
                <a:cs typeface="Times New Roman" panose="02020603050405020304" pitchFamily="18" charset="0"/>
              </a:rPr>
              <a:t>     ↓</a:t>
            </a:r>
          </a:p>
          <a:p>
            <a:r>
              <a:rPr lang="en-US" altLang="en-US" dirty="0">
                <a:latin typeface="Times New Roman" panose="02020603050405020304" pitchFamily="18" charset="0"/>
                <a:cs typeface="Times New Roman" panose="02020603050405020304" pitchFamily="18" charset="0"/>
              </a:rPr>
              <a:t>Haptic Actuators (Vibration Motors)</a:t>
            </a:r>
          </a:p>
          <a:p>
            <a:pPr marL="0" indent="0">
              <a:buNone/>
            </a:pPr>
            <a:r>
              <a:rPr lang="en-US" altLang="en-US" dirty="0">
                <a:latin typeface="Times New Roman" panose="02020603050405020304" pitchFamily="18" charset="0"/>
                <a:cs typeface="Times New Roman" panose="02020603050405020304" pitchFamily="18" charset="0"/>
              </a:rPr>
              <a:t>     ↓</a:t>
            </a:r>
          </a:p>
          <a:p>
            <a:r>
              <a:rPr lang="en-US" altLang="en-US" dirty="0">
                <a:latin typeface="Times New Roman" panose="02020603050405020304" pitchFamily="18" charset="0"/>
                <a:cs typeface="Times New Roman" panose="02020603050405020304" pitchFamily="18" charset="0"/>
              </a:rPr>
              <a:t>User Receives Touch Feedback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9E04CB-BF16-008D-E746-2D0A52957272}"/>
              </a:ext>
            </a:extLst>
          </p:cNvPr>
          <p:cNvPicPr>
            <a:picLocks noChangeAspect="1"/>
          </p:cNvPicPr>
          <p:nvPr/>
        </p:nvPicPr>
        <p:blipFill>
          <a:blip r:embed="rId2"/>
          <a:stretch>
            <a:fillRect/>
          </a:stretch>
        </p:blipFill>
        <p:spPr>
          <a:xfrm>
            <a:off x="2913075" y="3138845"/>
            <a:ext cx="5278755" cy="3192780"/>
          </a:xfrm>
          <a:prstGeom prst="rect">
            <a:avLst/>
          </a:prstGeom>
        </p:spPr>
      </p:pic>
      <p:pic>
        <p:nvPicPr>
          <p:cNvPr id="3" name="Picture 2">
            <a:extLst>
              <a:ext uri="{FF2B5EF4-FFF2-40B4-BE49-F238E27FC236}">
                <a16:creationId xmlns:a16="http://schemas.microsoft.com/office/drawing/2014/main" id="{F4D4DF21-924D-4BA1-5F03-F11A39B95959}"/>
              </a:ext>
            </a:extLst>
          </p:cNvPr>
          <p:cNvPicPr>
            <a:picLocks noChangeAspect="1"/>
          </p:cNvPicPr>
          <p:nvPr/>
        </p:nvPicPr>
        <p:blipFill>
          <a:blip r:embed="rId3"/>
          <a:stretch>
            <a:fillRect/>
          </a:stretch>
        </p:blipFill>
        <p:spPr>
          <a:xfrm>
            <a:off x="2913075" y="0"/>
            <a:ext cx="5108575" cy="2799080"/>
          </a:xfrm>
          <a:prstGeom prst="rect">
            <a:avLst/>
          </a:prstGeom>
        </p:spPr>
      </p:pic>
    </p:spTree>
    <p:extLst>
      <p:ext uri="{BB962C8B-B14F-4D97-AF65-F5344CB8AC3E}">
        <p14:creationId xmlns:p14="http://schemas.microsoft.com/office/powerpoint/2010/main" val="2474510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DD1956-0FBB-5721-A6C5-FC47A07D271D}"/>
              </a:ext>
            </a:extLst>
          </p:cNvPr>
          <p:cNvSpPr txBox="1"/>
          <p:nvPr/>
        </p:nvSpPr>
        <p:spPr>
          <a:xfrm>
            <a:off x="1238639" y="397645"/>
            <a:ext cx="6097554" cy="707886"/>
          </a:xfrm>
          <a:prstGeom prst="rect">
            <a:avLst/>
          </a:prstGeom>
          <a:noFill/>
        </p:spPr>
        <p:txBody>
          <a:bodyPr wrap="square">
            <a:spAutoFit/>
          </a:bodyPr>
          <a:lstStyle/>
          <a:p>
            <a:r>
              <a:rPr lang="en-IN" sz="4000" u="sng" dirty="0">
                <a:latin typeface="Times New Roman" panose="02020603050405020304" pitchFamily="18" charset="0"/>
                <a:cs typeface="Times New Roman" panose="02020603050405020304" pitchFamily="18" charset="0"/>
              </a:rPr>
              <a:t>Modules Used</a:t>
            </a:r>
          </a:p>
        </p:txBody>
      </p:sp>
      <p:sp>
        <p:nvSpPr>
          <p:cNvPr id="4" name="Rectangle 1">
            <a:extLst>
              <a:ext uri="{FF2B5EF4-FFF2-40B4-BE49-F238E27FC236}">
                <a16:creationId xmlns:a16="http://schemas.microsoft.com/office/drawing/2014/main" id="{EE447046-EEBD-5B91-A6BD-A8FDF118B09B}"/>
              </a:ext>
            </a:extLst>
          </p:cNvPr>
          <p:cNvSpPr>
            <a:spLocks noChangeArrowheads="1"/>
          </p:cNvSpPr>
          <p:nvPr/>
        </p:nvSpPr>
        <p:spPr bwMode="auto">
          <a:xfrm>
            <a:off x="1238639" y="1582097"/>
            <a:ext cx="919998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Obstacle Detection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Uses an ultrasonic sensor to detect nearby obstacles and measure distance.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Wireless Communication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Enables data transfer between transmitter and receiver using ESP8266.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Location Tracking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GPS module provides the user’s location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Processing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ESP8266 microcontroller processes sensor data and controls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Vibration motor and buzzer provide vibration and sound alerts to the user.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Input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Push button is used for manual input or emergency activation.</a:t>
            </a:r>
          </a:p>
        </p:txBody>
      </p:sp>
    </p:spTree>
    <p:extLst>
      <p:ext uri="{BB962C8B-B14F-4D97-AF65-F5344CB8AC3E}">
        <p14:creationId xmlns:p14="http://schemas.microsoft.com/office/powerpoint/2010/main" val="4006157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26BFEBC-B390-5F43-D05D-ABF61CEC191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5574" y="2310612"/>
            <a:ext cx="5134882" cy="3660980"/>
          </a:xfrm>
          <a:prstGeom prst="rect">
            <a:avLst/>
          </a:prstGeom>
          <a:noFill/>
        </p:spPr>
      </p:pic>
      <p:pic>
        <p:nvPicPr>
          <p:cNvPr id="3" name="Picture 2">
            <a:extLst>
              <a:ext uri="{FF2B5EF4-FFF2-40B4-BE49-F238E27FC236}">
                <a16:creationId xmlns:a16="http://schemas.microsoft.com/office/drawing/2014/main" id="{5486F4D3-F14E-3377-06B8-1044A231D95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flipH="1">
            <a:off x="7135138" y="1573662"/>
            <a:ext cx="3796832" cy="5134881"/>
          </a:xfrm>
          <a:prstGeom prst="rect">
            <a:avLst/>
          </a:prstGeom>
          <a:noFill/>
        </p:spPr>
      </p:pic>
      <p:sp>
        <p:nvSpPr>
          <p:cNvPr id="4" name="TextBox 3">
            <a:extLst>
              <a:ext uri="{FF2B5EF4-FFF2-40B4-BE49-F238E27FC236}">
                <a16:creationId xmlns:a16="http://schemas.microsoft.com/office/drawing/2014/main" id="{0BAC0BFD-0E17-423D-5194-CE22A09DB4DD}"/>
              </a:ext>
            </a:extLst>
          </p:cNvPr>
          <p:cNvSpPr txBox="1"/>
          <p:nvPr/>
        </p:nvSpPr>
        <p:spPr>
          <a:xfrm>
            <a:off x="1166326" y="699797"/>
            <a:ext cx="2751074" cy="830997"/>
          </a:xfrm>
          <a:prstGeom prst="rect">
            <a:avLst/>
          </a:prstGeom>
          <a:noFill/>
        </p:spPr>
        <p:txBody>
          <a:bodyPr wrap="none" rtlCol="0">
            <a:spAutoFit/>
          </a:bodyPr>
          <a:lstStyle/>
          <a:p>
            <a:r>
              <a:rPr lang="en-IN" sz="4800" u="sng" dirty="0">
                <a:latin typeface="Times New Roman" panose="02020603050405020304" pitchFamily="18" charset="0"/>
                <a:cs typeface="Times New Roman" panose="02020603050405020304" pitchFamily="18" charset="0"/>
              </a:rPr>
              <a:t>Prototype:</a:t>
            </a:r>
            <a:endParaRPr lang="en-IN" dirty="0"/>
          </a:p>
        </p:txBody>
      </p:sp>
    </p:spTree>
    <p:extLst>
      <p:ext uri="{BB962C8B-B14F-4D97-AF65-F5344CB8AC3E}">
        <p14:creationId xmlns:p14="http://schemas.microsoft.com/office/powerpoint/2010/main" val="74625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2865"/>
            <a:ext cx="10515600" cy="1325563"/>
          </a:xfrm>
        </p:spPr>
        <p:txBody>
          <a:bodyPr/>
          <a:lstStyle/>
          <a:p>
            <a:r>
              <a:rPr lang="en-US" altLang="en-US" u="sng" dirty="0">
                <a:latin typeface="Times New Roman" panose="02020603050405020304" pitchFamily="18" charset="0"/>
                <a:cs typeface="Times New Roman" panose="02020603050405020304" pitchFamily="18" charset="0"/>
              </a:rPr>
              <a:t>Scope of Work</a:t>
            </a:r>
          </a:p>
        </p:txBody>
      </p:sp>
      <p:sp>
        <p:nvSpPr>
          <p:cNvPr id="3" name="Content Placeholder 2"/>
          <p:cNvSpPr>
            <a:spLocks noGrp="1"/>
          </p:cNvSpPr>
          <p:nvPr>
            <p:ph idx="1"/>
          </p:nvPr>
        </p:nvSpPr>
        <p:spPr>
          <a:xfrm>
            <a:off x="838200" y="1253331"/>
            <a:ext cx="10515600" cy="4351338"/>
          </a:xfrm>
        </p:spPr>
        <p:txBody>
          <a:bodyPr>
            <a:noAutofit/>
          </a:bodyPr>
          <a:lstStyle/>
          <a:p>
            <a:r>
              <a:rPr lang="en-US" altLang="en-US" sz="2400" dirty="0">
                <a:latin typeface="Times New Roman" panose="02020603050405020304" pitchFamily="18" charset="0"/>
                <a:cs typeface="Times New Roman" panose="02020603050405020304" pitchFamily="18" charset="0"/>
              </a:rPr>
              <a:t>Designing the hardware architecture</a:t>
            </a:r>
          </a:p>
          <a:p>
            <a:r>
              <a:rPr lang="en-US" altLang="en-US" sz="2400" dirty="0">
                <a:latin typeface="Times New Roman" panose="02020603050405020304" pitchFamily="18" charset="0"/>
                <a:cs typeface="Times New Roman" panose="02020603050405020304" pitchFamily="18" charset="0"/>
              </a:rPr>
              <a:t>Developing haptic feedback mechanisms</a:t>
            </a:r>
          </a:p>
          <a:p>
            <a:r>
              <a:rPr lang="en-US" altLang="en-US" sz="2400" dirty="0">
                <a:latin typeface="Times New Roman" panose="02020603050405020304" pitchFamily="18" charset="0"/>
                <a:cs typeface="Times New Roman" panose="02020603050405020304" pitchFamily="18" charset="0"/>
              </a:rPr>
              <a:t>Integrating microcontroller-based control</a:t>
            </a:r>
          </a:p>
          <a:p>
            <a:r>
              <a:rPr lang="en-US" altLang="en-US" sz="2400" dirty="0">
                <a:latin typeface="Times New Roman" panose="02020603050405020304" pitchFamily="18" charset="0"/>
                <a:cs typeface="Times New Roman" panose="02020603050405020304" pitchFamily="18" charset="0"/>
              </a:rPr>
              <a:t>Testing usability with disabled individuals</a:t>
            </a:r>
          </a:p>
          <a:p>
            <a:r>
              <a:rPr lang="en-US" altLang="en-US" sz="2400" dirty="0">
                <a:latin typeface="Times New Roman" panose="02020603050405020304" pitchFamily="18" charset="0"/>
                <a:cs typeface="Times New Roman" panose="02020603050405020304" pitchFamily="18" charset="0"/>
              </a:rPr>
              <a:t>Improving system efficiency and reliability</a:t>
            </a:r>
          </a:p>
          <a:p>
            <a:pPr marL="0" indent="0">
              <a:buNone/>
            </a:pPr>
            <a:r>
              <a:rPr lang="en-US" altLang="en-US" sz="4000" u="sng" dirty="0">
                <a:latin typeface="Times New Roman" panose="02020603050405020304" pitchFamily="18" charset="0"/>
                <a:cs typeface="Times New Roman" panose="02020603050405020304" pitchFamily="18" charset="0"/>
              </a:rPr>
              <a:t>Future scope:</a:t>
            </a:r>
          </a:p>
          <a:p>
            <a:r>
              <a:rPr lang="en-US" altLang="en-US" sz="2400" dirty="0">
                <a:latin typeface="Times New Roman" panose="02020603050405020304" pitchFamily="18" charset="0"/>
                <a:cs typeface="Times New Roman" panose="02020603050405020304" pitchFamily="18" charset="0"/>
              </a:rPr>
              <a:t>Integration with smartphones</a:t>
            </a:r>
          </a:p>
          <a:p>
            <a:r>
              <a:rPr lang="en-US" altLang="en-US" sz="2400" dirty="0">
                <a:latin typeface="Times New Roman" panose="02020603050405020304" pitchFamily="18" charset="0"/>
                <a:cs typeface="Times New Roman" panose="02020603050405020304" pitchFamily="18" charset="0"/>
              </a:rPr>
              <a:t>AI-based navigation assistance</a:t>
            </a:r>
          </a:p>
          <a:p>
            <a:r>
              <a:rPr lang="en-US" altLang="en-US" sz="2400" dirty="0">
                <a:latin typeface="Times New Roman" panose="02020603050405020304" pitchFamily="18" charset="0"/>
                <a:cs typeface="Times New Roman" panose="02020603050405020304" pitchFamily="18" charset="0"/>
              </a:rPr>
              <a:t>Advanced wearable haptic devices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655" y="-81280"/>
            <a:ext cx="10515600" cy="1325563"/>
          </a:xfrm>
        </p:spPr>
        <p:txBody>
          <a:bodyPr/>
          <a:lstStyle/>
          <a:p>
            <a:r>
              <a:rPr lang="en-US" altLang="en-US" u="sng" dirty="0">
                <a:latin typeface="Times New Roman" panose="02020603050405020304" pitchFamily="18" charset="0"/>
                <a:cs typeface="Times New Roman" panose="02020603050405020304" pitchFamily="18" charset="0"/>
                <a:sym typeface="+mn-ea"/>
              </a:rPr>
              <a:t>Literature</a:t>
            </a:r>
            <a:r>
              <a:rPr lang="en-US" altLang="en-US" u="sng" dirty="0">
                <a:sym typeface="+mn-ea"/>
              </a:rPr>
              <a:t> </a:t>
            </a:r>
            <a:r>
              <a:rPr lang="en-US" altLang="en-US" u="sng" dirty="0">
                <a:latin typeface="Times New Roman" panose="02020603050405020304" pitchFamily="18" charset="0"/>
                <a:cs typeface="Times New Roman" panose="02020603050405020304" pitchFamily="18" charset="0"/>
                <a:sym typeface="+mn-ea"/>
              </a:rPr>
              <a:t>survey</a:t>
            </a:r>
            <a:endParaRPr lang="en-US" u="sng" dirty="0">
              <a:latin typeface="Times New Roman" panose="02020603050405020304" pitchFamily="18" charset="0"/>
              <a:cs typeface="Times New Roman" panose="02020603050405020304" pitchFamily="18" charset="0"/>
            </a:endParaRPr>
          </a:p>
        </p:txBody>
      </p:sp>
      <p:graphicFrame>
        <p:nvGraphicFramePr>
          <p:cNvPr id="10" name="Table 9"/>
          <p:cNvGraphicFramePr/>
          <p:nvPr/>
        </p:nvGraphicFramePr>
        <p:xfrm>
          <a:off x="1489710" y="922020"/>
          <a:ext cx="8484870" cy="4122420"/>
        </p:xfrm>
        <a:graphic>
          <a:graphicData uri="http://schemas.openxmlformats.org/drawingml/2006/table">
            <a:tbl>
              <a:tblPr firstRow="1" bandRow="1">
                <a:tableStyleId>{8799B23B-EC83-4686-B30A-512413B5E67A}</a:tableStyleId>
              </a:tblPr>
              <a:tblGrid>
                <a:gridCol w="2828290">
                  <a:extLst>
                    <a:ext uri="{9D8B030D-6E8A-4147-A177-3AD203B41FA5}">
                      <a16:colId xmlns:a16="http://schemas.microsoft.com/office/drawing/2014/main" val="20000"/>
                    </a:ext>
                  </a:extLst>
                </a:gridCol>
                <a:gridCol w="2828290">
                  <a:extLst>
                    <a:ext uri="{9D8B030D-6E8A-4147-A177-3AD203B41FA5}">
                      <a16:colId xmlns:a16="http://schemas.microsoft.com/office/drawing/2014/main" val="20001"/>
                    </a:ext>
                  </a:extLst>
                </a:gridCol>
                <a:gridCol w="2828290">
                  <a:extLst>
                    <a:ext uri="{9D8B030D-6E8A-4147-A177-3AD203B41FA5}">
                      <a16:colId xmlns:a16="http://schemas.microsoft.com/office/drawing/2014/main" val="20002"/>
                    </a:ext>
                  </a:extLst>
                </a:gridCol>
              </a:tblGrid>
              <a:tr h="502920">
                <a:tc>
                  <a:txBody>
                    <a:bodyPr/>
                    <a:lstStyle/>
                    <a:p>
                      <a:pPr>
                        <a:buNone/>
                      </a:pPr>
                      <a:r>
                        <a:rPr lang="en-US" sz="1800">
                          <a:solidFill>
                            <a:schemeClr val="tx1"/>
                          </a:solidFill>
                        </a:rPr>
                        <a:t>AUTHORS</a:t>
                      </a:r>
                    </a:p>
                  </a:txBody>
                  <a:tcPr/>
                </a:tc>
                <a:tc>
                  <a:txBody>
                    <a:bodyPr/>
                    <a:lstStyle/>
                    <a:p>
                      <a:pPr>
                        <a:buNone/>
                      </a:pPr>
                      <a:r>
                        <a:rPr lang="en-US" sz="1600">
                          <a:solidFill>
                            <a:schemeClr val="tx1"/>
                          </a:solidFill>
                        </a:rPr>
                        <a:t>REVIEW</a:t>
                      </a:r>
                    </a:p>
                  </a:txBody>
                  <a:tcPr/>
                </a:tc>
                <a:tc>
                  <a:txBody>
                    <a:bodyPr/>
                    <a:lstStyle/>
                    <a:p>
                      <a:pPr>
                        <a:buNone/>
                      </a:pPr>
                      <a:r>
                        <a:rPr lang="en-US" sz="1600">
                          <a:solidFill>
                            <a:schemeClr val="tx1"/>
                          </a:solidFill>
                        </a:rPr>
                        <a:t>DESCRIPTION</a:t>
                      </a:r>
                    </a:p>
                  </a:txBody>
                  <a:tcPr/>
                </a:tc>
                <a:extLst>
                  <a:ext uri="{0D108BD9-81ED-4DB2-BD59-A6C34878D82A}">
                    <a16:rowId xmlns:a16="http://schemas.microsoft.com/office/drawing/2014/main" val="10000"/>
                  </a:ext>
                </a:extLst>
              </a:tr>
              <a:tr h="889635">
                <a:tc>
                  <a:txBody>
                    <a:bodyPr/>
                    <a:lstStyle/>
                    <a:p>
                      <a:pPr>
                        <a:buNone/>
                      </a:pPr>
                      <a:r>
                        <a:rPr lang="en-US" altLang="en-US" sz="1200">
                          <a:solidFill>
                            <a:schemeClr val="tx1"/>
                          </a:solidFill>
                        </a:rPr>
                        <a:t>Mandayam A. Srinivasan, Katherine J. Kuchenbecker</a:t>
                      </a:r>
                    </a:p>
                  </a:txBody>
                  <a:tcPr/>
                </a:tc>
                <a:tc>
                  <a:txBody>
                    <a:bodyPr/>
                    <a:lstStyle/>
                    <a:p>
                      <a:pPr>
                        <a:buNone/>
                      </a:pPr>
                      <a:r>
                        <a:rPr lang="en-US" altLang="en-US" sz="1200">
                          <a:solidFill>
                            <a:schemeClr val="tx1"/>
                          </a:solidFill>
                        </a:rPr>
                        <a:t>Haptic Interfaces for Visually Impaired Users: A Review</a:t>
                      </a:r>
                    </a:p>
                  </a:txBody>
                  <a:tcPr/>
                </a:tc>
                <a:tc>
                  <a:txBody>
                    <a:bodyPr/>
                    <a:lstStyle/>
                    <a:p>
                      <a:pPr>
                        <a:buNone/>
                      </a:pPr>
                      <a:r>
                        <a:rPr lang="en-US" altLang="en-US" sz="1200">
                          <a:solidFill>
                            <a:schemeClr val="tx1"/>
                          </a:solidFill>
                        </a:rPr>
                        <a:t>This paper provides a comprehensive review of haptic interface technologies developed to assist visually impaired individuals</a:t>
                      </a:r>
                    </a:p>
                  </a:txBody>
                  <a:tcPr/>
                </a:tc>
                <a:extLst>
                  <a:ext uri="{0D108BD9-81ED-4DB2-BD59-A6C34878D82A}">
                    <a16:rowId xmlns:a16="http://schemas.microsoft.com/office/drawing/2014/main" val="10001"/>
                  </a:ext>
                </a:extLst>
              </a:tr>
              <a:tr h="909955">
                <a:tc>
                  <a:txBody>
                    <a:bodyPr/>
                    <a:lstStyle/>
                    <a:p>
                      <a:pPr>
                        <a:buNone/>
                      </a:pPr>
                      <a:r>
                        <a:rPr lang="en-US" altLang="en-US" sz="1200">
                          <a:solidFill>
                            <a:schemeClr val="tx1"/>
                          </a:solidFill>
                        </a:rPr>
                        <a:t>Lynette A. Jones, Stephen J. Lederman</a:t>
                      </a:r>
                    </a:p>
                  </a:txBody>
                  <a:tcPr/>
                </a:tc>
                <a:tc>
                  <a:txBody>
                    <a:bodyPr/>
                    <a:lstStyle/>
                    <a:p>
                      <a:pPr>
                        <a:buNone/>
                      </a:pPr>
                      <a:r>
                        <a:rPr lang="en-US" altLang="en-US" sz="1200">
                          <a:solidFill>
                            <a:schemeClr val="tx1"/>
                          </a:solidFill>
                        </a:rPr>
                        <a:t> Design of Wearable Haptic Systems for Assistive Applications</a:t>
                      </a:r>
                    </a:p>
                  </a:txBody>
                  <a:tcPr/>
                </a:tc>
                <a:tc>
                  <a:txBody>
                    <a:bodyPr/>
                    <a:lstStyle/>
                    <a:p>
                      <a:pPr>
                        <a:buNone/>
                      </a:pPr>
                      <a:r>
                        <a:rPr lang="en-US" altLang="en-US" sz="1200">
                          <a:solidFill>
                            <a:schemeClr val="tx1"/>
                          </a:solidFill>
                        </a:rPr>
                        <a:t>The authors explore wearable haptic devices aimed at supporting individuals with sensory and motor disabilities.</a:t>
                      </a:r>
                    </a:p>
                  </a:txBody>
                  <a:tcPr/>
                </a:tc>
                <a:extLst>
                  <a:ext uri="{0D108BD9-81ED-4DB2-BD59-A6C34878D82A}">
                    <a16:rowId xmlns:a16="http://schemas.microsoft.com/office/drawing/2014/main" val="10002"/>
                  </a:ext>
                </a:extLst>
              </a:tr>
              <a:tr h="909955">
                <a:tc>
                  <a:txBody>
                    <a:bodyPr/>
                    <a:lstStyle/>
                    <a:p>
                      <a:pPr>
                        <a:buNone/>
                      </a:pPr>
                      <a:r>
                        <a:rPr lang="en-US" altLang="en-US" sz="1200" dirty="0">
                          <a:solidFill>
                            <a:schemeClr val="tx1"/>
                          </a:solidFill>
                        </a:rPr>
                        <a:t>Hiroshi Tanaka, Kenji Suzuki</a:t>
                      </a:r>
                    </a:p>
                  </a:txBody>
                  <a:tcPr/>
                </a:tc>
                <a:tc>
                  <a:txBody>
                    <a:bodyPr/>
                    <a:lstStyle/>
                    <a:p>
                      <a:pPr>
                        <a:buNone/>
                      </a:pPr>
                      <a:r>
                        <a:rPr lang="en-US" altLang="en-US" sz="1200">
                          <a:solidFill>
                            <a:schemeClr val="tx1"/>
                          </a:solidFill>
                        </a:rPr>
                        <a:t>Vibrotactile Feedback Systems for Navigation Assistance in Disabled Individuals</a:t>
                      </a:r>
                    </a:p>
                  </a:txBody>
                  <a:tcPr/>
                </a:tc>
                <a:tc>
                  <a:txBody>
                    <a:bodyPr/>
                    <a:lstStyle/>
                    <a:p>
                      <a:pPr>
                        <a:buNone/>
                      </a:pPr>
                      <a:r>
                        <a:rPr lang="en-US" altLang="en-US" sz="1200">
                          <a:solidFill>
                            <a:schemeClr val="tx1"/>
                          </a:solidFill>
                        </a:rPr>
                        <a:t>This study proposes a vibrotactile feedback-based navigation system designed for individuals with visual and mobility impairments.</a:t>
                      </a:r>
                    </a:p>
                  </a:txBody>
                  <a:tcPr/>
                </a:tc>
                <a:extLst>
                  <a:ext uri="{0D108BD9-81ED-4DB2-BD59-A6C34878D82A}">
                    <a16:rowId xmlns:a16="http://schemas.microsoft.com/office/drawing/2014/main" val="10003"/>
                  </a:ext>
                </a:extLst>
              </a:tr>
              <a:tr h="909955">
                <a:tc>
                  <a:txBody>
                    <a:bodyPr/>
                    <a:lstStyle/>
                    <a:p>
                      <a:pPr>
                        <a:buNone/>
                      </a:pPr>
                      <a:r>
                        <a:rPr lang="en-US" altLang="en-US" sz="1200">
                          <a:solidFill>
                            <a:schemeClr val="tx1"/>
                          </a:solidFill>
                        </a:rPr>
                        <a:t>Paolo Bonato, Hermano Igo Krebs</a:t>
                      </a:r>
                    </a:p>
                  </a:txBody>
                  <a:tcPr/>
                </a:tc>
                <a:tc>
                  <a:txBody>
                    <a:bodyPr/>
                    <a:lstStyle/>
                    <a:p>
                      <a:pPr>
                        <a:buNone/>
                      </a:pPr>
                      <a:r>
                        <a:rPr lang="en-US" altLang="en-US" sz="1200">
                          <a:solidFill>
                            <a:schemeClr val="tx1"/>
                          </a:solidFill>
                        </a:rPr>
                        <a:t>Haptic Feedback Interfaces for Rehabilitation and Assistive Technologies</a:t>
                      </a:r>
                    </a:p>
                  </a:txBody>
                  <a:tcPr/>
                </a:tc>
                <a:tc>
                  <a:txBody>
                    <a:bodyPr/>
                    <a:lstStyle/>
                    <a:p>
                      <a:pPr>
                        <a:buNone/>
                      </a:pPr>
                      <a:r>
                        <a:rPr lang="en-US" altLang="en-US" sz="1200" dirty="0">
                          <a:solidFill>
                            <a:schemeClr val="tx1"/>
                          </a:solidFill>
                        </a:rPr>
                        <a:t>This paper investigates the role of haptic interfaces in rehabilitation and assistive technologies for physically disabled individuals.</a:t>
                      </a:r>
                    </a:p>
                  </a:txBody>
                  <a:tcPr/>
                </a:tc>
                <a:extLst>
                  <a:ext uri="{0D108BD9-81ED-4DB2-BD59-A6C34878D82A}">
                    <a16:rowId xmlns:a16="http://schemas.microsoft.com/office/drawing/2014/main" val="10004"/>
                  </a:ext>
                </a:extLst>
              </a:tr>
            </a:tbl>
          </a:graphicData>
        </a:graphic>
      </p:graphicFrame>
      <p:graphicFrame>
        <p:nvGraphicFramePr>
          <p:cNvPr id="12" name="Table 11"/>
          <p:cNvGraphicFramePr/>
          <p:nvPr/>
        </p:nvGraphicFramePr>
        <p:xfrm>
          <a:off x="1489710" y="5045075"/>
          <a:ext cx="8484870" cy="822960"/>
        </p:xfrm>
        <a:graphic>
          <a:graphicData uri="http://schemas.openxmlformats.org/drawingml/2006/table">
            <a:tbl>
              <a:tblPr firstRow="1" bandRow="1">
                <a:tableStyleId>{0505E3EF-67EA-436B-97B2-0124C06EBD24}</a:tableStyleId>
              </a:tblPr>
              <a:tblGrid>
                <a:gridCol w="2828290">
                  <a:extLst>
                    <a:ext uri="{9D8B030D-6E8A-4147-A177-3AD203B41FA5}">
                      <a16:colId xmlns:a16="http://schemas.microsoft.com/office/drawing/2014/main" val="20000"/>
                    </a:ext>
                  </a:extLst>
                </a:gridCol>
                <a:gridCol w="2828290">
                  <a:extLst>
                    <a:ext uri="{9D8B030D-6E8A-4147-A177-3AD203B41FA5}">
                      <a16:colId xmlns:a16="http://schemas.microsoft.com/office/drawing/2014/main" val="20001"/>
                    </a:ext>
                  </a:extLst>
                </a:gridCol>
                <a:gridCol w="2828290">
                  <a:extLst>
                    <a:ext uri="{9D8B030D-6E8A-4147-A177-3AD203B41FA5}">
                      <a16:colId xmlns:a16="http://schemas.microsoft.com/office/drawing/2014/main" val="20002"/>
                    </a:ext>
                  </a:extLst>
                </a:gridCol>
              </a:tblGrid>
              <a:tr h="727075">
                <a:tc>
                  <a:txBody>
                    <a:bodyPr/>
                    <a:lstStyle/>
                    <a:p>
                      <a:pPr>
                        <a:buNone/>
                      </a:pPr>
                      <a:r>
                        <a:rPr lang="en-US" altLang="en-US" sz="1200" b="0"/>
                        <a:t>Jacob O. Wobbrock, Shaun K. Kane</a:t>
                      </a:r>
                    </a:p>
                  </a:txBody>
                  <a:tcPr/>
                </a:tc>
                <a:tc>
                  <a:txBody>
                    <a:bodyPr/>
                    <a:lstStyle/>
                    <a:p>
                      <a:pPr>
                        <a:buNone/>
                      </a:pPr>
                      <a:r>
                        <a:rPr lang="en-US" altLang="en-US" sz="1200" b="0"/>
                        <a:t>Tactile Communication Systems for Assistive Human–Computer Interaction</a:t>
                      </a:r>
                    </a:p>
                  </a:txBody>
                  <a:tcPr/>
                </a:tc>
                <a:tc>
                  <a:txBody>
                    <a:bodyPr/>
                    <a:lstStyle/>
                    <a:p>
                      <a:pPr>
                        <a:buNone/>
                      </a:pPr>
                      <a:r>
                        <a:rPr lang="en-US" altLang="en-US" sz="1200" b="0"/>
                        <a:t>The research focuses on tactile-based communication systems that enable disabled users to interact effectively with digital devices.</a:t>
                      </a:r>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u="sng"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p:txBody>
          <a:bodyPr>
            <a:noAutofit/>
          </a:bodyPr>
          <a:lstStyle/>
          <a:p>
            <a:pPr>
              <a:buFont typeface="Wingdings" panose="05000000000000000000" pitchFamily="2" charset="2"/>
              <a:buChar char="ü"/>
            </a:pPr>
            <a:r>
              <a:rPr lang="en-US" altLang="en-US" sz="2000" dirty="0">
                <a:latin typeface="Times New Roman" panose="02020603050405020304" pitchFamily="18" charset="0"/>
                <a:cs typeface="Times New Roman" panose="02020603050405020304" pitchFamily="18" charset="0"/>
              </a:rPr>
              <a:t>Human Haptic Perception, by Martin Grunwald, Birkhäuser Publishing, 2008.</a:t>
            </a:r>
          </a:p>
          <a:p>
            <a:pPr>
              <a:buFont typeface="Wingdings" panose="05000000000000000000" pitchFamily="2" charset="2"/>
              <a:buChar char="ü"/>
            </a:pPr>
            <a:r>
              <a:rPr lang="en-US" altLang="en-US" sz="2000" dirty="0">
                <a:latin typeface="Times New Roman" panose="02020603050405020304" pitchFamily="18" charset="0"/>
                <a:cs typeface="Times New Roman" panose="02020603050405020304" pitchFamily="18" charset="0"/>
              </a:rPr>
              <a:t>  Introduction to Autonomous Mobile Robots, by Roland Siegwart, Illah Nourbakhsh, and Davide </a:t>
            </a:r>
            <a:r>
              <a:rPr lang="en-US" altLang="en-US" sz="2000" dirty="0" err="1">
                <a:latin typeface="Times New Roman" panose="02020603050405020304" pitchFamily="18" charset="0"/>
                <a:cs typeface="Times New Roman" panose="02020603050405020304" pitchFamily="18" charset="0"/>
              </a:rPr>
              <a:t>Scaramuzza</a:t>
            </a:r>
            <a:r>
              <a:rPr lang="en-US" altLang="en-US" sz="2000" dirty="0">
                <a:latin typeface="Times New Roman" panose="02020603050405020304" pitchFamily="18" charset="0"/>
                <a:cs typeface="Times New Roman" panose="02020603050405020304" pitchFamily="18" charset="0"/>
              </a:rPr>
              <a:t>, MIT Press, 2011.</a:t>
            </a:r>
          </a:p>
          <a:p>
            <a:pPr>
              <a:buFont typeface="Wingdings" panose="05000000000000000000" pitchFamily="2" charset="2"/>
              <a:buChar char="ü"/>
            </a:pPr>
            <a:r>
              <a:rPr lang="en-US" altLang="en-US" sz="2000" dirty="0">
                <a:latin typeface="Times New Roman" panose="02020603050405020304" pitchFamily="18" charset="0"/>
                <a:cs typeface="Times New Roman" panose="02020603050405020304" pitchFamily="18" charset="0"/>
              </a:rPr>
              <a:t>Designing for Interaction, by Dan Saffer, New Riders Publishing, 2010.</a:t>
            </a:r>
          </a:p>
          <a:p>
            <a:pPr>
              <a:buFont typeface="Wingdings" panose="05000000000000000000" pitchFamily="2" charset="2"/>
              <a:buChar char="ü"/>
            </a:pPr>
            <a:r>
              <a:rPr lang="en-US" altLang="en-US" sz="2000" dirty="0">
                <a:latin typeface="Times New Roman" panose="02020603050405020304" pitchFamily="18" charset="0"/>
                <a:cs typeface="Times New Roman" panose="02020603050405020304" pitchFamily="18" charset="0"/>
              </a:rPr>
              <a:t>Arduino IDE Documentation – https://www.arduino.cc/reference</a:t>
            </a:r>
          </a:p>
          <a:p>
            <a:pPr>
              <a:buFont typeface="Wingdings" panose="05000000000000000000" pitchFamily="2" charset="2"/>
              <a:buChar char="ü"/>
            </a:pPr>
            <a:r>
              <a:rPr lang="en-US" altLang="en-US" sz="2000" dirty="0">
                <a:latin typeface="Times New Roman" panose="02020603050405020304" pitchFamily="18" charset="0"/>
                <a:cs typeface="Times New Roman" panose="02020603050405020304" pitchFamily="18" charset="0"/>
              </a:rPr>
              <a:t>ESP8266 Arduino Core Documentation – https://arduino-esp8266.readthedocs.io</a:t>
            </a:r>
          </a:p>
          <a:p>
            <a:pPr>
              <a:buFont typeface="Wingdings" panose="05000000000000000000" pitchFamily="2" charset="2"/>
              <a:buChar char="ü"/>
            </a:pPr>
            <a:r>
              <a:rPr lang="en-US" altLang="en-US" sz="2000" dirty="0">
                <a:latin typeface="Times New Roman" panose="02020603050405020304" pitchFamily="18" charset="0"/>
                <a:cs typeface="Times New Roman" panose="02020603050405020304" pitchFamily="18" charset="0"/>
              </a:rPr>
              <a:t>ESP8266 </a:t>
            </a:r>
            <a:r>
              <a:rPr lang="en-US" altLang="en-US" sz="2000" dirty="0" err="1">
                <a:latin typeface="Times New Roman" panose="02020603050405020304" pitchFamily="18" charset="0"/>
                <a:cs typeface="Times New Roman" panose="02020603050405020304" pitchFamily="18" charset="0"/>
              </a:rPr>
              <a:t>WiFi</a:t>
            </a:r>
            <a:r>
              <a:rPr lang="en-US" altLang="en-US" sz="2000" dirty="0">
                <a:latin typeface="Times New Roman" panose="02020603050405020304" pitchFamily="18" charset="0"/>
                <a:cs typeface="Times New Roman" panose="02020603050405020304" pitchFamily="18" charset="0"/>
              </a:rPr>
              <a:t> Module Technical Datasheet – </a:t>
            </a:r>
            <a:r>
              <a:rPr lang="en-US" altLang="en-US" sz="2000" dirty="0" err="1">
                <a:latin typeface="Times New Roman" panose="02020603050405020304" pitchFamily="18" charset="0"/>
                <a:cs typeface="Times New Roman" panose="02020603050405020304" pitchFamily="18" charset="0"/>
              </a:rPr>
              <a:t>Espressif</a:t>
            </a:r>
            <a:r>
              <a:rPr lang="en-US" altLang="en-US" sz="2000" dirty="0">
                <a:latin typeface="Times New Roman" panose="02020603050405020304" pitchFamily="18" charset="0"/>
                <a:cs typeface="Times New Roman" panose="02020603050405020304" pitchFamily="18" charset="0"/>
              </a:rPr>
              <a:t> Systems.</a:t>
            </a:r>
          </a:p>
          <a:p>
            <a:pPr>
              <a:buFont typeface="Wingdings" panose="05000000000000000000" pitchFamily="2" charset="2"/>
              <a:buChar char="ü"/>
            </a:pPr>
            <a:r>
              <a:rPr lang="en-US" altLang="en-US" sz="2000" dirty="0">
                <a:latin typeface="Times New Roman" panose="02020603050405020304" pitchFamily="18" charset="0"/>
                <a:cs typeface="Times New Roman" panose="02020603050405020304" pitchFamily="18" charset="0"/>
              </a:rPr>
              <a:t>HCSR04 Ultrasonic Sensor Datasheet – Distance Measuring Sensor Module.</a:t>
            </a:r>
          </a:p>
          <a:p>
            <a:pPr>
              <a:buFont typeface="Wingdings" panose="05000000000000000000" pitchFamily="2" charset="2"/>
              <a:buChar char="ü"/>
            </a:pPr>
            <a:r>
              <a:rPr lang="en-US" altLang="en-US" sz="2000" dirty="0">
                <a:latin typeface="Times New Roman" panose="02020603050405020304" pitchFamily="18" charset="0"/>
                <a:cs typeface="Times New Roman" panose="02020603050405020304" pitchFamily="18" charset="0"/>
              </a:rPr>
              <a:t>IEEE Digital Library – Research papers on Haptic Interfaces and Assistive Technologies.</a:t>
            </a:r>
          </a:p>
          <a:p>
            <a:pPr>
              <a:buFont typeface="Wingdings" panose="05000000000000000000" pitchFamily="2" charset="2"/>
              <a:buChar char="ü"/>
            </a:pPr>
            <a:r>
              <a:rPr lang="en-US" altLang="en-US" sz="2000" dirty="0">
                <a:latin typeface="Times New Roman" panose="02020603050405020304" pitchFamily="18" charset="0"/>
                <a:cs typeface="Times New Roman" panose="02020603050405020304" pitchFamily="18" charset="0"/>
              </a:rPr>
              <a:t>World Health Organization reports on assistive technologies and disability support.</a:t>
            </a:r>
          </a:p>
          <a:p>
            <a:endParaRPr lang="en-US" altLang="en-US" sz="1600" dirty="0"/>
          </a:p>
          <a:p>
            <a:endParaRPr lang="en-US" alt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903294-0024-55A7-348C-5C6BA3A3E6A8}"/>
              </a:ext>
            </a:extLst>
          </p:cNvPr>
          <p:cNvSpPr/>
          <p:nvPr/>
        </p:nvSpPr>
        <p:spPr>
          <a:xfrm>
            <a:off x="3890865" y="3032449"/>
            <a:ext cx="4228113" cy="2123658"/>
          </a:xfrm>
          <a:prstGeom prst="rect">
            <a:avLst/>
          </a:prstGeom>
          <a:noFill/>
        </p:spPr>
        <p:txBody>
          <a:bodyPr wrap="square" lIns="91440" tIns="45720" rIns="91440" bIns="45720">
            <a:spAutoFit/>
          </a:bodyPr>
          <a:lstStyle/>
          <a:p>
            <a:pPr algn="ctr"/>
            <a:r>
              <a:rPr lang="en-US" sz="66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THANK</a:t>
            </a:r>
          </a:p>
          <a:p>
            <a:pPr algn="ctr"/>
            <a:r>
              <a:rPr lang="en-US" sz="6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YOU</a:t>
            </a:r>
            <a:endParaRPr lang="en-US" sz="66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5103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1538</Words>
  <Application>Microsoft Office PowerPoint</Application>
  <PresentationFormat>Widescreen</PresentationFormat>
  <Paragraphs>138</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Times New Roman</vt:lpstr>
      <vt:lpstr>Wingdings</vt:lpstr>
      <vt:lpstr>Office Theme</vt:lpstr>
      <vt:lpstr>PowerPoint Presentation</vt:lpstr>
      <vt:lpstr>Contents:</vt:lpstr>
      <vt:lpstr>Abstract </vt:lpstr>
      <vt:lpstr>Introduction </vt:lpstr>
      <vt:lpstr>PowerPoint Presentation</vt:lpstr>
      <vt:lpstr>PowerPoint Presentation</vt:lpstr>
      <vt:lpstr>Proposed system </vt:lpstr>
      <vt:lpstr>PowerPoint Presentation</vt:lpstr>
      <vt:lpstr>DISADVANTAGES</vt:lpstr>
      <vt:lpstr>PowerPoint Presentation</vt:lpstr>
      <vt:lpstr>PowerPoint Presentation</vt:lpstr>
      <vt:lpstr>PowerPoint Presentation</vt:lpstr>
      <vt:lpstr>System architecture</vt:lpstr>
      <vt:lpstr>PowerPoint Presentation</vt:lpstr>
      <vt:lpstr>PowerPoint Presentation</vt:lpstr>
      <vt:lpstr>PowerPoint Presentation</vt:lpstr>
      <vt:lpstr>Scope of Work</vt:lpstr>
      <vt:lpstr>Literature survey</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Degala Abhi Charan</dc:creator>
  <cp:lastModifiedBy>Degala Abhi Charan</cp:lastModifiedBy>
  <cp:revision>18</cp:revision>
  <dcterms:created xsi:type="dcterms:W3CDTF">2026-03-15T08:43:54Z</dcterms:created>
  <dcterms:modified xsi:type="dcterms:W3CDTF">2026-03-15T10:57:12Z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AB116A7F4408D4684A71B6699EDD60DA_43</vt:lpwstr>
  </property>
  <property fmtid="{D5CDD505-2E9C-101B-9397-08002B2CF9AE}" pid="3" name="KSOProductBuildVer">
    <vt:lpwstr>1033-12.1.23143.23143</vt:lpwstr>
  </property>
</Properties>
</file>